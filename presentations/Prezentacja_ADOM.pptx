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59" r:id="rId4"/>
    <p:sldId id="273" r:id="rId5"/>
    <p:sldId id="271" r:id="rId6"/>
    <p:sldId id="265" r:id="rId7"/>
    <p:sldId id="266" r:id="rId8"/>
    <p:sldId id="267" r:id="rId9"/>
    <p:sldId id="272" r:id="rId10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1pPr>
    <a:lvl2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2pPr>
    <a:lvl3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3pPr>
    <a:lvl4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4pPr>
    <a:lvl5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5pPr>
    <a:lvl6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6pPr>
    <a:lvl7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7pPr>
    <a:lvl8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8pPr>
    <a:lvl9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896CF"/>
    <a:srgbClr val="E6EFFF"/>
    <a:srgbClr val="96B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6ABA9C"/>
        </a:fontRef>
        <a:srgbClr val="6ABA9C"/>
      </a:tcTxStyle>
      <a:tcStyle>
        <a:tcBdr>
          <a:left>
            <a:ln w="12700" cap="flat">
              <a:solidFill>
                <a:srgbClr val="3C3C4C"/>
              </a:solidFill>
              <a:prstDash val="solid"/>
              <a:round/>
            </a:ln>
          </a:left>
          <a:right>
            <a:ln w="12700" cap="flat">
              <a:solidFill>
                <a:srgbClr val="3C3C4C"/>
              </a:solidFill>
              <a:prstDash val="solid"/>
              <a:round/>
            </a:ln>
          </a:right>
          <a:top>
            <a:ln w="12700" cap="flat">
              <a:solidFill>
                <a:srgbClr val="3C3C4C"/>
              </a:solidFill>
              <a:prstDash val="solid"/>
              <a:round/>
            </a:ln>
          </a:top>
          <a:bottom>
            <a:ln w="12700" cap="flat">
              <a:solidFill>
                <a:srgbClr val="3C3C4C"/>
              </a:solidFill>
              <a:prstDash val="solid"/>
              <a:round/>
            </a:ln>
          </a:bottom>
          <a:insideH>
            <a:ln w="12700" cap="flat">
              <a:solidFill>
                <a:srgbClr val="3C3C4C"/>
              </a:solidFill>
              <a:prstDash val="solid"/>
              <a:round/>
            </a:ln>
          </a:insideH>
          <a:insideV>
            <a:ln w="12700" cap="flat">
              <a:solidFill>
                <a:srgbClr val="3C3C4C"/>
              </a:solidFill>
              <a:prstDash val="solid"/>
              <a:round/>
            </a:ln>
          </a:insideV>
        </a:tcBdr>
        <a:fill>
          <a:solidFill>
            <a:srgbClr val="CAECDD"/>
          </a:solidFill>
        </a:fill>
      </a:tcStyle>
    </a:wholeTbl>
    <a:band2H>
      <a:tcTxStyle/>
      <a:tcStyle>
        <a:tcBdr/>
        <a:fill>
          <a:solidFill>
            <a:srgbClr val="E6F6EF"/>
          </a:solidFill>
        </a:fill>
      </a:tcStyle>
    </a:band2H>
    <a:firstCol>
      <a:tcTxStyle b="on" i="off">
        <a:fontRef idx="major">
          <a:srgbClr val="3C3C4C"/>
        </a:fontRef>
        <a:srgbClr val="3C3C4C"/>
      </a:tcTxStyle>
      <a:tcStyle>
        <a:tcBdr>
          <a:left>
            <a:ln w="12700" cap="flat">
              <a:solidFill>
                <a:srgbClr val="3C3C4C"/>
              </a:solidFill>
              <a:prstDash val="solid"/>
              <a:round/>
            </a:ln>
          </a:left>
          <a:right>
            <a:ln w="12700" cap="flat">
              <a:solidFill>
                <a:srgbClr val="3C3C4C"/>
              </a:solidFill>
              <a:prstDash val="solid"/>
              <a:round/>
            </a:ln>
          </a:right>
          <a:top>
            <a:ln w="12700" cap="flat">
              <a:solidFill>
                <a:srgbClr val="3C3C4C"/>
              </a:solidFill>
              <a:prstDash val="solid"/>
              <a:round/>
            </a:ln>
          </a:top>
          <a:bottom>
            <a:ln w="12700" cap="flat">
              <a:solidFill>
                <a:srgbClr val="3C3C4C"/>
              </a:solidFill>
              <a:prstDash val="solid"/>
              <a:round/>
            </a:ln>
          </a:bottom>
          <a:insideH>
            <a:ln w="12700" cap="flat">
              <a:solidFill>
                <a:srgbClr val="3C3C4C"/>
              </a:solidFill>
              <a:prstDash val="solid"/>
              <a:round/>
            </a:ln>
          </a:insideH>
          <a:insideV>
            <a:ln w="12700" cap="flat">
              <a:solidFill>
                <a:srgbClr val="3C3C4C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3C3C4C"/>
        </a:fontRef>
        <a:srgbClr val="3C3C4C"/>
      </a:tcTxStyle>
      <a:tcStyle>
        <a:tcBdr>
          <a:left>
            <a:ln w="12700" cap="flat">
              <a:solidFill>
                <a:srgbClr val="3C3C4C"/>
              </a:solidFill>
              <a:prstDash val="solid"/>
              <a:round/>
            </a:ln>
          </a:left>
          <a:right>
            <a:ln w="12700" cap="flat">
              <a:solidFill>
                <a:srgbClr val="3C3C4C"/>
              </a:solidFill>
              <a:prstDash val="solid"/>
              <a:round/>
            </a:ln>
          </a:right>
          <a:top>
            <a:ln w="38100" cap="flat">
              <a:solidFill>
                <a:srgbClr val="3C3C4C"/>
              </a:solidFill>
              <a:prstDash val="solid"/>
              <a:round/>
            </a:ln>
          </a:top>
          <a:bottom>
            <a:ln w="12700" cap="flat">
              <a:solidFill>
                <a:srgbClr val="3C3C4C"/>
              </a:solidFill>
              <a:prstDash val="solid"/>
              <a:round/>
            </a:ln>
          </a:bottom>
          <a:insideH>
            <a:ln w="12700" cap="flat">
              <a:solidFill>
                <a:srgbClr val="3C3C4C"/>
              </a:solidFill>
              <a:prstDash val="solid"/>
              <a:round/>
            </a:ln>
          </a:insideH>
          <a:insideV>
            <a:ln w="12700" cap="flat">
              <a:solidFill>
                <a:srgbClr val="3C3C4C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3C3C4C"/>
        </a:fontRef>
        <a:srgbClr val="3C3C4C"/>
      </a:tcTxStyle>
      <a:tcStyle>
        <a:tcBdr>
          <a:left>
            <a:ln w="12700" cap="flat">
              <a:solidFill>
                <a:srgbClr val="3C3C4C"/>
              </a:solidFill>
              <a:prstDash val="solid"/>
              <a:round/>
            </a:ln>
          </a:left>
          <a:right>
            <a:ln w="12700" cap="flat">
              <a:solidFill>
                <a:srgbClr val="3C3C4C"/>
              </a:solidFill>
              <a:prstDash val="solid"/>
              <a:round/>
            </a:ln>
          </a:right>
          <a:top>
            <a:ln w="12700" cap="flat">
              <a:solidFill>
                <a:srgbClr val="3C3C4C"/>
              </a:solidFill>
              <a:prstDash val="solid"/>
              <a:round/>
            </a:ln>
          </a:top>
          <a:bottom>
            <a:ln w="38100" cap="flat">
              <a:solidFill>
                <a:srgbClr val="3C3C4C"/>
              </a:solidFill>
              <a:prstDash val="solid"/>
              <a:round/>
            </a:ln>
          </a:bottom>
          <a:insideH>
            <a:ln w="12700" cap="flat">
              <a:solidFill>
                <a:srgbClr val="3C3C4C"/>
              </a:solidFill>
              <a:prstDash val="solid"/>
              <a:round/>
            </a:ln>
          </a:insideH>
          <a:insideV>
            <a:ln w="12700" cap="flat">
              <a:solidFill>
                <a:srgbClr val="3C3C4C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CAECDD"/>
          </a:solidFill>
        </a:fill>
      </a:tcStyle>
    </a:wholeTbl>
    <a:band2H>
      <a:tcTxStyle/>
      <a:tcStyle>
        <a:tcBdr/>
        <a:fill>
          <a:solidFill>
            <a:srgbClr val="E6F6EF"/>
          </a:solidFill>
        </a:fill>
      </a:tcStyle>
    </a:band2H>
    <a:firstCol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381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381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381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381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381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381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6ABA9C"/>
        </a:fontRef>
        <a:srgbClr val="6ABA9C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AF3EF"/>
          </a:solidFill>
        </a:fill>
      </a:tcStyle>
    </a:wholeTbl>
    <a:band2H>
      <a:tcTxStyle/>
      <a:tcStyle>
        <a:tcBdr/>
        <a:fill>
          <a:solidFill>
            <a:srgbClr val="6ABA9C"/>
          </a:solidFill>
        </a:fill>
      </a:tcStyle>
    </a:band2H>
    <a:firstCol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6ABA9C"/>
              </a:solidFill>
              <a:prstDash val="solid"/>
              <a:round/>
            </a:ln>
          </a:top>
          <a:bottom>
            <a:ln w="254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6ABA9C"/>
          </a:solidFill>
        </a:fill>
      </a:tcStyle>
    </a:lastRow>
    <a:fir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6ABA9C"/>
              </a:solidFill>
              <a:prstDash val="solid"/>
              <a:round/>
            </a:ln>
          </a:top>
          <a:bottom>
            <a:ln w="254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D3E6DE"/>
          </a:solidFill>
        </a:fill>
      </a:tcStyle>
    </a:wholeTbl>
    <a:band2H>
      <a:tcTxStyle/>
      <a:tcStyle>
        <a:tcBdr/>
        <a:fill>
          <a:solidFill>
            <a:srgbClr val="EAF3EF"/>
          </a:solidFill>
        </a:fill>
      </a:tcStyle>
    </a:band2H>
    <a:firstCol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6ABA9C"/>
          </a:solidFill>
        </a:fill>
      </a:tcStyle>
    </a:firstCol>
    <a:la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381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6ABA9C"/>
          </a:solidFill>
        </a:fill>
      </a:tcStyle>
    </a:lastRow>
    <a:fir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381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6ABA9C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65"/>
    <p:restoredTop sz="70519" autoAdjust="0"/>
  </p:normalViewPr>
  <p:slideViewPr>
    <p:cSldViewPr snapToGrid="0">
      <p:cViewPr varScale="1">
        <p:scale>
          <a:sx n="40" d="100"/>
          <a:sy n="40" d="100"/>
        </p:scale>
        <p:origin x="1624" y="22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6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2" name="Shape 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1pPr>
    <a:lvl2pPr indent="2286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2pPr>
    <a:lvl3pPr indent="4572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3pPr>
    <a:lvl4pPr indent="6858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4pPr>
    <a:lvl5pPr indent="9144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5pPr>
    <a:lvl6pPr indent="11430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6pPr>
    <a:lvl7pPr indent="13716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7pPr>
    <a:lvl8pPr indent="16002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8pPr>
    <a:lvl9pPr indent="18288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Open-set 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object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 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detection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 (Detekcja w zbiorze otwartym):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 Zdolność modelu do lokalizowania i rozpoznawania obiektów, które 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nie znajdowały się w zamkniętej liście klas treningowych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. Zamiast sztywnego zestawu etykiet (np. 80 klas z COCO), klasami sterujemy dowolnym tekstem w języku naturalnym, w tym pełnymi opisami z cechami i relacjami (</a:t>
            </a:r>
            <a:r>
              <a:rPr lang="pl-PL" sz="2800" i="1" dirty="0" err="1">
                <a:effectLst/>
                <a:latin typeface="+mn-lt"/>
                <a:ea typeface="+mn-ea"/>
                <a:cs typeface="+mn-cs"/>
                <a:sym typeface="Times New Roman"/>
              </a:rPr>
              <a:t>Referring</a:t>
            </a:r>
            <a:r>
              <a:rPr lang="pl-PL" sz="2800" i="1" dirty="0">
                <a:effectLst/>
                <a:latin typeface="+mn-lt"/>
                <a:ea typeface="+mn-ea"/>
                <a:cs typeface="+mn-cs"/>
                <a:sym typeface="Times New Roman"/>
              </a:rPr>
              <a:t> </a:t>
            </a:r>
            <a:r>
              <a:rPr lang="pl-PL" sz="2800" i="1" dirty="0" err="1">
                <a:effectLst/>
                <a:latin typeface="+mn-lt"/>
                <a:ea typeface="+mn-ea"/>
                <a:cs typeface="+mn-cs"/>
                <a:sym typeface="Times New Roman"/>
              </a:rPr>
              <a:t>Expression</a:t>
            </a:r>
            <a:r>
              <a:rPr lang="pl-PL" sz="2800" i="1" dirty="0">
                <a:effectLst/>
                <a:latin typeface="+mn-lt"/>
                <a:ea typeface="+mn-ea"/>
                <a:cs typeface="+mn-cs"/>
                <a:sym typeface="Times New Roman"/>
              </a:rPr>
              <a:t> </a:t>
            </a:r>
            <a:r>
              <a:rPr lang="pl-PL" sz="2800" i="1" dirty="0" err="1">
                <a:effectLst/>
                <a:latin typeface="+mn-lt"/>
                <a:ea typeface="+mn-ea"/>
                <a:cs typeface="+mn-cs"/>
                <a:sym typeface="Times New Roman"/>
              </a:rPr>
              <a:t>Comprehension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). </a:t>
            </a:r>
          </a:p>
          <a:p>
            <a:pPr lvl="0"/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Grounded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 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Pre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-Training (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Pre-training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 z zakorzenieniem tekstu w obrazie):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 Metodyka trenowania modelu na ogromnych zbiorach danych, gdzie zadanie detekcji jest sformułowane jako dopasowywanie konkretnych fraz tekstowych do regionów obrazu (</a:t>
            </a:r>
            <a:r>
              <a:rPr lang="pl-PL" sz="2800" i="1" dirty="0" err="1">
                <a:effectLst/>
                <a:latin typeface="+mn-lt"/>
                <a:ea typeface="+mn-ea"/>
                <a:cs typeface="+mn-cs"/>
                <a:sym typeface="Times New Roman"/>
              </a:rPr>
              <a:t>phrase</a:t>
            </a:r>
            <a:r>
              <a:rPr lang="pl-PL" sz="2800" i="1" dirty="0">
                <a:effectLst/>
                <a:latin typeface="+mn-lt"/>
                <a:ea typeface="+mn-ea"/>
                <a:cs typeface="+mn-cs"/>
                <a:sym typeface="Times New Roman"/>
              </a:rPr>
              <a:t> </a:t>
            </a:r>
            <a:r>
              <a:rPr lang="pl-PL" sz="2800" i="1" dirty="0" err="1">
                <a:effectLst/>
                <a:latin typeface="+mn-lt"/>
                <a:ea typeface="+mn-ea"/>
                <a:cs typeface="+mn-cs"/>
                <a:sym typeface="Times New Roman"/>
              </a:rPr>
              <a:t>grounding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). Zamiast klasyfikatora z jedną warstwą wyjściową, model uczy się wspólnej przestrzeni cech obrazu i tekstu za pomocą straty kontrastowej (</a:t>
            </a:r>
            <a:r>
              <a:rPr lang="pl-PL" sz="2800" i="1" dirty="0" err="1">
                <a:effectLst/>
                <a:latin typeface="+mn-lt"/>
                <a:ea typeface="+mn-ea"/>
                <a:cs typeface="+mn-cs"/>
                <a:sym typeface="Times New Roman"/>
              </a:rPr>
              <a:t>contrastive</a:t>
            </a:r>
            <a:r>
              <a:rPr lang="pl-PL" sz="2800" i="1" dirty="0">
                <a:effectLst/>
                <a:latin typeface="+mn-lt"/>
                <a:ea typeface="+mn-ea"/>
                <a:cs typeface="+mn-cs"/>
                <a:sym typeface="Times New Roman"/>
              </a:rPr>
              <a:t> </a:t>
            </a:r>
            <a:r>
              <a:rPr lang="pl-PL" sz="2800" i="1" dirty="0" err="1">
                <a:effectLst/>
                <a:latin typeface="+mn-lt"/>
                <a:ea typeface="+mn-ea"/>
                <a:cs typeface="+mn-cs"/>
                <a:sym typeface="Times New Roman"/>
              </a:rPr>
              <a:t>loss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). </a:t>
            </a:r>
          </a:p>
          <a:p>
            <a:pPr lvl="0"/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Sub-sentence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 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level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 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text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 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representation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 (Reprezentacja tekstu na poziomie pod-zdań):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 Innowacyjny sposób kodowania tekstu wprowadzony w Grounding DINO. Gdy do </a:t>
            </a:r>
            <a:r>
              <a:rPr lang="pl-PL" sz="2800" dirty="0" err="1">
                <a:effectLst/>
                <a:latin typeface="+mn-lt"/>
                <a:ea typeface="+mn-ea"/>
                <a:cs typeface="+mn-cs"/>
                <a:sym typeface="Times New Roman"/>
              </a:rPr>
              <a:t>promptu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 wrzucamy wiele niezależnych nazw klas (np. </a:t>
            </a:r>
            <a:r>
              <a:rPr lang="pl-PL" sz="2800" i="1" dirty="0">
                <a:effectLst/>
                <a:latin typeface="+mn-lt"/>
                <a:ea typeface="+mn-ea"/>
                <a:cs typeface="+mn-cs"/>
                <a:sym typeface="Times New Roman"/>
              </a:rPr>
              <a:t>„</a:t>
            </a:r>
            <a:r>
              <a:rPr lang="pl-PL" sz="2800" i="1" dirty="0" err="1">
                <a:effectLst/>
                <a:latin typeface="+mn-lt"/>
                <a:ea typeface="+mn-ea"/>
                <a:cs typeface="+mn-cs"/>
                <a:sym typeface="Times New Roman"/>
              </a:rPr>
              <a:t>cat</a:t>
            </a:r>
            <a:r>
              <a:rPr lang="pl-PL" sz="2800" i="1" dirty="0">
                <a:effectLst/>
                <a:latin typeface="+mn-lt"/>
                <a:ea typeface="+mn-ea"/>
                <a:cs typeface="+mn-cs"/>
                <a:sym typeface="Times New Roman"/>
              </a:rPr>
              <a:t>. person. dog.”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), zwykły mechanizm atencji mieszałby ich znaczenia. Grounding DINO stosuje 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specjalne maski atencji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, które blokują interakcję między niespokrewnionymi pojęciami, zachowując jednocześnie szczegółowe cechy na poziomie pojedynczych słów (</a:t>
            </a:r>
            <a:r>
              <a:rPr lang="pl-PL" sz="2800" i="1" dirty="0">
                <a:effectLst/>
                <a:latin typeface="+mn-lt"/>
                <a:ea typeface="+mn-ea"/>
                <a:cs typeface="+mn-cs"/>
                <a:sym typeface="Times New Roman"/>
              </a:rPr>
              <a:t>per-</a:t>
            </a:r>
            <a:r>
              <a:rPr lang="pl-PL" sz="2800" i="1" dirty="0" err="1">
                <a:effectLst/>
                <a:latin typeface="+mn-lt"/>
                <a:ea typeface="+mn-ea"/>
                <a:cs typeface="+mn-cs"/>
                <a:sym typeface="Times New Roman"/>
              </a:rPr>
              <a:t>word</a:t>
            </a:r>
            <a:r>
              <a:rPr lang="pl-PL" sz="2800" i="1" dirty="0">
                <a:effectLst/>
                <a:latin typeface="+mn-lt"/>
                <a:ea typeface="+mn-ea"/>
                <a:cs typeface="+mn-cs"/>
                <a:sym typeface="Times New Roman"/>
              </a:rPr>
              <a:t> </a:t>
            </a:r>
            <a:r>
              <a:rPr lang="pl-PL" sz="2800" i="1" dirty="0" err="1">
                <a:effectLst/>
                <a:latin typeface="+mn-lt"/>
                <a:ea typeface="+mn-ea"/>
                <a:cs typeface="+mn-cs"/>
                <a:sym typeface="Times New Roman"/>
              </a:rPr>
              <a:t>features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). </a:t>
            </a:r>
          </a:p>
          <a:p>
            <a:pPr lvl="0"/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Tight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 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feature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 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fusion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 (Ścisła fuzja cech):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 Trzystopniowa integracja modalności wizualnej i tekstowej wewnątrz sieci: </a:t>
            </a:r>
          </a:p>
          <a:p>
            <a:pPr lvl="1"/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W koderze/szyjce (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Feature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 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Enhancer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), </a:t>
            </a:r>
          </a:p>
          <a:p>
            <a:pPr lvl="1"/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Przy inicjalizacji zapytań (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Language-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Guided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 Query 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Selection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), </a:t>
            </a:r>
          </a:p>
          <a:p>
            <a:pPr lvl="1"/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W dekoderze (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Cross-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Modality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 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Decoder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). </a:t>
            </a:r>
          </a:p>
          <a:p>
            <a:pPr lvl="1"/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Wcześniejsze modele łączyły tekst z obrazem tylko na jednym etapie (np. GLIP tylko w szyjce, a OV-DETR tylko w zapytaniach). </a:t>
            </a:r>
          </a:p>
          <a:p>
            <a:pPr lvl="0"/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Language-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Guided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 Query 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Selection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 (Wybór zapytań sterowany językiem):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 Mechanizm dynamicznego wybierania regionów z mapy cech obrazu, które stają się zapytaniami (</a:t>
            </a:r>
            <a:r>
              <a:rPr lang="pl-PL" sz="2800" i="1" dirty="0" err="1">
                <a:effectLst/>
                <a:latin typeface="+mn-lt"/>
                <a:ea typeface="+mn-ea"/>
                <a:cs typeface="+mn-cs"/>
                <a:sym typeface="Times New Roman"/>
              </a:rPr>
              <a:t>object</a:t>
            </a:r>
            <a:r>
              <a:rPr lang="pl-PL" sz="2800" i="1" dirty="0">
                <a:effectLst/>
                <a:latin typeface="+mn-lt"/>
                <a:ea typeface="+mn-ea"/>
                <a:cs typeface="+mn-cs"/>
                <a:sym typeface="Times New Roman"/>
              </a:rPr>
              <a:t> </a:t>
            </a:r>
            <a:r>
              <a:rPr lang="pl-PL" sz="2800" i="1" dirty="0" err="1">
                <a:effectLst/>
                <a:latin typeface="+mn-lt"/>
                <a:ea typeface="+mn-ea"/>
                <a:cs typeface="+mn-cs"/>
                <a:sym typeface="Times New Roman"/>
              </a:rPr>
              <a:t>queries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) przekazywanymi do dekodera. Zamiast losowych lub statycznych zapytań, model oblicza iloczyn skalarny cech obrazu i tekstu i wybiera te punkty w obrazie (domyślnie 900), które wykazują 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najwyższe prawdopodobieństwo powiązania z wpisanym 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promptem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. 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96922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„Główną siłą architektury Grounding DINO jest schemat </a:t>
            </a:r>
            <a:r>
              <a:rPr lang="pl-PL" sz="2800" i="1" dirty="0">
                <a:effectLst/>
                <a:latin typeface="+mn-lt"/>
                <a:ea typeface="+mn-ea"/>
                <a:cs typeface="+mn-cs"/>
                <a:sym typeface="Times New Roman"/>
              </a:rPr>
              <a:t>dual-</a:t>
            </a:r>
            <a:r>
              <a:rPr lang="pl-PL" sz="2800" i="1" dirty="0" err="1">
                <a:effectLst/>
                <a:latin typeface="+mn-lt"/>
                <a:ea typeface="+mn-ea"/>
                <a:cs typeface="+mn-cs"/>
                <a:sym typeface="Times New Roman"/>
              </a:rPr>
              <a:t>encoder</a:t>
            </a:r>
            <a:r>
              <a:rPr lang="pl-PL" sz="2800" i="1" dirty="0">
                <a:effectLst/>
                <a:latin typeface="+mn-lt"/>
                <a:ea typeface="+mn-ea"/>
                <a:cs typeface="+mn-cs"/>
                <a:sym typeface="Times New Roman"/>
              </a:rPr>
              <a:t> single-</a:t>
            </a:r>
            <a:r>
              <a:rPr lang="pl-PL" sz="2800" i="1" dirty="0" err="1">
                <a:effectLst/>
                <a:latin typeface="+mn-lt"/>
                <a:ea typeface="+mn-ea"/>
                <a:cs typeface="+mn-cs"/>
                <a:sym typeface="Times New Roman"/>
              </a:rPr>
              <a:t>decoder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 z trzystopniową, głęboką fuzją modalności. Zamiast łączyć obraz z tekstem tylko raz, interakcja zachodzi na każdym z trzech poziomów: </a:t>
            </a:r>
          </a:p>
          <a:p>
            <a:pPr lvl="0"/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W module 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Feature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 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Enhancer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, gdzie warstwy cross-</a:t>
            </a:r>
            <a:r>
              <a:rPr lang="pl-PL" sz="2800" dirty="0" err="1">
                <a:effectLst/>
                <a:latin typeface="+mn-lt"/>
                <a:ea typeface="+mn-ea"/>
                <a:cs typeface="+mn-cs"/>
                <a:sym typeface="Times New Roman"/>
              </a:rPr>
              <a:t>attention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 nieustannie wymieniają informacje między cechami wizualnymi a wektorami tekstu. </a:t>
            </a:r>
          </a:p>
          <a:p>
            <a:pPr lvl="0"/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Na etapie 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Query </a:t>
            </a:r>
            <a:r>
              <a:rPr lang="pl-PL" sz="2800" b="1" dirty="0" err="1">
                <a:effectLst/>
                <a:latin typeface="+mn-lt"/>
                <a:ea typeface="+mn-ea"/>
                <a:cs typeface="+mn-cs"/>
                <a:sym typeface="Times New Roman"/>
              </a:rPr>
              <a:t>Selection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, gdzie kwerendy obiektowe do dekodera nie są losowe, lecz wyznaczane przez regiony obrazu najlepiej pasujące semantycznie do wpisanego tekstu. </a:t>
            </a:r>
          </a:p>
          <a:p>
            <a:pPr lvl="0"/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Wreszcie w </a:t>
            </a:r>
            <a:r>
              <a:rPr lang="pl-PL" sz="2800" b="1" dirty="0">
                <a:effectLst/>
                <a:latin typeface="+mn-lt"/>
                <a:ea typeface="+mn-ea"/>
                <a:cs typeface="+mn-cs"/>
                <a:sym typeface="Times New Roman"/>
              </a:rPr>
              <a:t>dekoderze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, w którym każda warstwa posiada dodatkową atencję krzyżową do tekstu, stale pilnując dopasowania wykrywanych obiektów do </a:t>
            </a:r>
            <a:r>
              <a:rPr lang="pl-PL" sz="2800" dirty="0" err="1">
                <a:effectLst/>
                <a:latin typeface="+mn-lt"/>
                <a:ea typeface="+mn-ea"/>
                <a:cs typeface="+mn-cs"/>
                <a:sym typeface="Times New Roman"/>
              </a:rPr>
              <a:t>promptu</a:t>
            </a:r>
            <a:r>
              <a:rPr lang="pl-PL" sz="2800" dirty="0">
                <a:effectLst/>
                <a:latin typeface="+mn-lt"/>
                <a:ea typeface="+mn-ea"/>
                <a:cs typeface="+mn-cs"/>
                <a:sym typeface="Times New Roman"/>
              </a:rPr>
              <a:t>.”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02802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1087437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Naszym głównym materiałem źródłowym i bazą całego projektu jest artykuł zatytułowany </a:t>
            </a:r>
            <a:r>
              <a:rPr lang="pl-PL" i="1" dirty="0"/>
              <a:t>'Grounding DINO: </a:t>
            </a:r>
            <a:r>
              <a:rPr lang="pl-PL" i="1" dirty="0" err="1"/>
              <a:t>Marrying</a:t>
            </a:r>
            <a:r>
              <a:rPr lang="pl-PL" i="1" dirty="0"/>
              <a:t> DINO with </a:t>
            </a:r>
            <a:r>
              <a:rPr lang="pl-PL" i="1" dirty="0" err="1"/>
              <a:t>Grounded</a:t>
            </a:r>
            <a:r>
              <a:rPr lang="pl-PL" i="1" dirty="0"/>
              <a:t> </a:t>
            </a:r>
            <a:r>
              <a:rPr lang="pl-PL" i="1" dirty="0" err="1"/>
              <a:t>Pre</a:t>
            </a:r>
            <a:r>
              <a:rPr lang="pl-PL" i="1" dirty="0"/>
              <a:t>-Training for Open-Set Object </a:t>
            </a:r>
            <a:r>
              <a:rPr lang="pl-PL" i="1" dirty="0" err="1"/>
              <a:t>Detection</a:t>
            </a:r>
            <a:r>
              <a:rPr lang="pl-PL" i="1" dirty="0"/>
              <a:t>'</a:t>
            </a:r>
            <a:r>
              <a:rPr lang="pl-PL" dirty="0"/>
              <a:t>. Publikacja ta pochodzi z marca 2023 roku, a za jej stworzenie odpowiadają badacze współpracujący między innymi z instytutem IDEA.</a:t>
            </a:r>
          </a:p>
          <a:p>
            <a:pPr marL="0" marR="0" lvl="0" indent="0" defTabSz="1087437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 dirty="0"/>
          </a:p>
          <a:p>
            <a:r>
              <a:rPr lang="pl-PL" dirty="0"/>
              <a:t>Autorzy udostępnili otwarte repozytorium na platformie GitHub wraz z gotowymi, wytrenowanymi wagami modelu. Oficjalny kod Grounding DINO wymaga manualnej kompilacji autorskich operatorów C++ i CUDA, co może być niezwykle problematyczne w obliczu różnych wersji sterowników i biblioteki </a:t>
            </a:r>
            <a:r>
              <a:rPr lang="pl-PL" dirty="0" err="1"/>
              <a:t>PyTorch</a:t>
            </a:r>
            <a:r>
              <a:rPr lang="pl-PL" dirty="0"/>
              <a:t> na najnowszych układach graficznych. </a:t>
            </a:r>
          </a:p>
          <a:p>
            <a:endParaRPr lang="pl-PL" dirty="0"/>
          </a:p>
          <a:p>
            <a:r>
              <a:rPr lang="pl-PL" dirty="0"/>
              <a:t>Model doczekał się oficjalnej integracji w bibliotece </a:t>
            </a:r>
            <a:r>
              <a:rPr lang="pl-PL" sz="2800" dirty="0" err="1">
                <a:latin typeface="+mn-lt"/>
                <a:ea typeface="+mn-ea"/>
                <a:cs typeface="+mn-cs"/>
                <a:sym typeface="Times New Roman"/>
              </a:rPr>
              <a:t>transformers</a:t>
            </a:r>
            <a:r>
              <a:rPr lang="pl-PL" dirty="0"/>
              <a:t> od </a:t>
            </a:r>
            <a:r>
              <a:rPr lang="pl-PL" dirty="0" err="1"/>
              <a:t>Hugging</a:t>
            </a:r>
            <a:r>
              <a:rPr lang="pl-PL" dirty="0"/>
              <a:t> Face. Została ona przepisana do czystego </a:t>
            </a:r>
            <a:r>
              <a:rPr lang="pl-PL" dirty="0" err="1"/>
              <a:t>PyTorcha</a:t>
            </a:r>
            <a:r>
              <a:rPr lang="pl-PL" dirty="0"/>
              <a:t>, zdejmując z nas ciężar rozwiązywania konfliktów z zależnościami i kompilatorami, co pozwoli nam od razu skupić się na eksperymentach badawczych.</a:t>
            </a:r>
          </a:p>
        </p:txBody>
      </p:sp>
    </p:spTree>
    <p:extLst>
      <p:ext uri="{BB962C8B-B14F-4D97-AF65-F5344CB8AC3E}">
        <p14:creationId xmlns:p14="http://schemas.microsoft.com/office/powerpoint/2010/main" val="5380349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Jak możemy stosować Grounding </a:t>
            </a:r>
            <a:r>
              <a:rPr lang="pl-PL" dirty="0" err="1"/>
              <a:t>DINOzar</a:t>
            </a:r>
            <a:r>
              <a:rPr lang="pl-PL" dirty="0"/>
              <a:t>? Widzimy tu trzy główne jego zastosowania:</a:t>
            </a:r>
          </a:p>
          <a:p>
            <a:endParaRPr lang="pl-PL" dirty="0"/>
          </a:p>
          <a:p>
            <a:r>
              <a:rPr lang="pl-PL" dirty="0"/>
              <a:t>Po pierwsze: </a:t>
            </a:r>
            <a:r>
              <a:rPr lang="pl-PL" b="1" dirty="0"/>
              <a:t>zautomatyzowana edycja obrazów</a:t>
            </a:r>
            <a:r>
              <a:rPr lang="pl-PL" dirty="0"/>
              <a:t>. Zamiast ręcznie wycinać obiekty w programie graficznym, wpisujemy słowo '</a:t>
            </a:r>
            <a:r>
              <a:rPr lang="pl-PL" dirty="0" err="1"/>
              <a:t>pandas</a:t>
            </a:r>
            <a:r>
              <a:rPr lang="pl-PL" dirty="0"/>
              <a:t>'. Grounding DINO lokalizuje pandy i tworzy z nich precyzyjne maski, które następnie trafiają do modelu </a:t>
            </a:r>
            <a:r>
              <a:rPr lang="pl-PL" b="1" dirty="0" err="1"/>
              <a:t>Stable</a:t>
            </a:r>
            <a:r>
              <a:rPr lang="pl-PL" b="1" dirty="0"/>
              <a:t> </a:t>
            </a:r>
            <a:r>
              <a:rPr lang="pl-PL" b="1" dirty="0" err="1"/>
              <a:t>Diffusion</a:t>
            </a:r>
            <a:r>
              <a:rPr lang="pl-PL" dirty="0"/>
              <a:t>. Ten z kolei podmienia je na psy i torty urodzinowe, pozostawiając resztę trawy całkowicie nienaruszoną.</a:t>
            </a:r>
          </a:p>
          <a:p>
            <a:endParaRPr lang="pl-PL" dirty="0"/>
          </a:p>
          <a:p>
            <a:r>
              <a:rPr lang="pl-PL" dirty="0"/>
              <a:t>Po drugie: </a:t>
            </a:r>
            <a:r>
              <a:rPr lang="pl-PL" b="1" dirty="0"/>
              <a:t>generowanie warunkowe</a:t>
            </a:r>
            <a:r>
              <a:rPr lang="pl-PL" dirty="0"/>
              <a:t>. Tu współpracujemy z modelami takimi jak </a:t>
            </a:r>
            <a:r>
              <a:rPr lang="pl-PL" b="1" dirty="0"/>
              <a:t>GLIGEN</a:t>
            </a:r>
            <a:r>
              <a:rPr lang="pl-PL" dirty="0"/>
              <a:t>. Grounding DINO wykrywa strukturę – na przykład te szkicowe postacie – a następnie traktujemy te ramki jako sztywne kontenery. Dzięki temu wymuszamy na modelu wygenerowanie </a:t>
            </a:r>
            <a:r>
              <a:rPr lang="pl-PL" dirty="0" err="1"/>
              <a:t>fotorealistycznych</a:t>
            </a:r>
            <a:r>
              <a:rPr lang="pl-PL" dirty="0"/>
              <a:t> postaci dokładnie w tych, a nie innych miejscach. Mamy pełną kontrolę nad kompozycją.</a:t>
            </a:r>
          </a:p>
          <a:p>
            <a:endParaRPr lang="pl-PL" dirty="0"/>
          </a:p>
          <a:p>
            <a:pPr marL="0" marR="0" lvl="0" indent="0" defTabSz="1087437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I po trzecie: </a:t>
            </a:r>
            <a:r>
              <a:rPr lang="pl-PL" b="1" dirty="0"/>
              <a:t>złożone zapytania</a:t>
            </a:r>
            <a:r>
              <a:rPr lang="pl-PL" dirty="0"/>
              <a:t>, czyli zadania typu REC </a:t>
            </a:r>
            <a:r>
              <a:rPr lang="pl-PL" i="1" dirty="0"/>
              <a:t>(</a:t>
            </a:r>
            <a:r>
              <a:rPr lang="pl-PL" i="1" dirty="0" err="1"/>
              <a:t>Referring</a:t>
            </a:r>
            <a:r>
              <a:rPr lang="pl-PL" i="1" dirty="0"/>
              <a:t> </a:t>
            </a:r>
            <a:r>
              <a:rPr lang="pl-PL" i="1" dirty="0" err="1"/>
              <a:t>Expression</a:t>
            </a:r>
            <a:r>
              <a:rPr lang="pl-PL" i="1" dirty="0"/>
              <a:t> </a:t>
            </a:r>
            <a:r>
              <a:rPr lang="pl-PL" i="1" dirty="0" err="1"/>
              <a:t>Comprehension</a:t>
            </a:r>
            <a:r>
              <a:rPr lang="pl-PL" i="1" dirty="0"/>
              <a:t>)</a:t>
            </a:r>
            <a:r>
              <a:rPr lang="pl-PL" dirty="0"/>
              <a:t>. Nie musimy ograniczać się do prostych etykiet. Możemy wpisać złożone zdanie, na przykład 'mężczyzna na dole z podniesioną głową', a model zrozumie te relacje przestrzenne i precyzyjnie wskaże odpowiedniego piłkarza w tłumie. To krok naprzód dla analityki wideo i robotyki.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5036373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Przechodząc do naszych badań własnych, zaplanowaliśmy eksperyment, którego główną oś widać teraz na ekranie.</a:t>
            </a:r>
          </a:p>
          <a:p>
            <a:endParaRPr lang="pl-PL" dirty="0"/>
          </a:p>
          <a:p>
            <a:r>
              <a:rPr lang="pl-PL" dirty="0"/>
              <a:t>Naszym podstawowym pytaniem badawczym jest to, jak bardzo model jest wrażliwy na semantykę i szczegółowość naszego zapytania. Chcemy przetestować te same zbiory zdjęć dla trzech wariantów </a:t>
            </a:r>
            <a:r>
              <a:rPr lang="pl-PL" dirty="0" err="1"/>
              <a:t>promptów</a:t>
            </a:r>
            <a:r>
              <a:rPr lang="pl-PL" dirty="0"/>
              <a:t>:</a:t>
            </a:r>
          </a:p>
          <a:p>
            <a:endParaRPr lang="pl-PL" dirty="0"/>
          </a:p>
          <a:p>
            <a:pPr marL="457200" indent="-457200">
              <a:buFontTx/>
              <a:buChar char="-"/>
            </a:pPr>
            <a:r>
              <a:rPr lang="pl-PL" dirty="0"/>
              <a:t>Standardowej, prostej klasy – na przykład słowo </a:t>
            </a:r>
            <a:r>
              <a:rPr lang="pl-PL" b="1" dirty="0"/>
              <a:t>'dog’</a:t>
            </a:r>
            <a:r>
              <a:rPr lang="pl-PL" dirty="0"/>
              <a:t>.</a:t>
            </a:r>
          </a:p>
          <a:p>
            <a:pPr marL="457200" indent="-457200">
              <a:buFontTx/>
              <a:buChar char="-"/>
            </a:pPr>
            <a:r>
              <a:rPr lang="pl-PL" dirty="0"/>
              <a:t>Synonimu – w tym wypadku </a:t>
            </a:r>
            <a:r>
              <a:rPr lang="pl-PL" b="1" dirty="0"/>
              <a:t>'</a:t>
            </a:r>
            <a:r>
              <a:rPr lang="pl-PL" b="1" dirty="0" err="1"/>
              <a:t>puppy</a:t>
            </a:r>
            <a:r>
              <a:rPr lang="pl-PL" b="1" dirty="0"/>
              <a:t>’</a:t>
            </a:r>
            <a:r>
              <a:rPr lang="pl-PL" dirty="0"/>
              <a:t>.</a:t>
            </a:r>
          </a:p>
          <a:p>
            <a:pPr marL="457200" indent="-457200">
              <a:buFontTx/>
              <a:buChar char="-"/>
            </a:pPr>
            <a:r>
              <a:rPr lang="pl-PL" dirty="0"/>
              <a:t>Oraz bardzo szczegółowego opisu – jak widoczne tu </a:t>
            </a:r>
            <a:r>
              <a:rPr lang="pl-PL" b="1" dirty="0"/>
              <a:t>'a small </a:t>
            </a:r>
            <a:r>
              <a:rPr lang="pl-PL" b="1" dirty="0" err="1"/>
              <a:t>white</a:t>
            </a:r>
            <a:r>
              <a:rPr lang="pl-PL" b="1" dirty="0"/>
              <a:t> </a:t>
            </a:r>
            <a:r>
              <a:rPr lang="pl-PL" b="1" dirty="0" err="1"/>
              <a:t>animal</a:t>
            </a:r>
            <a:r>
              <a:rPr lang="pl-PL" b="1" dirty="0"/>
              <a:t> </a:t>
            </a:r>
            <a:r>
              <a:rPr lang="pl-PL" b="1" dirty="0" err="1"/>
              <a:t>running</a:t>
            </a:r>
            <a:r>
              <a:rPr lang="pl-PL" b="1" dirty="0"/>
              <a:t> on </a:t>
            </a:r>
            <a:r>
              <a:rPr lang="pl-PL" b="1" dirty="0" err="1"/>
              <a:t>grass</a:t>
            </a:r>
            <a:r>
              <a:rPr lang="pl-PL" b="1" dirty="0"/>
              <a:t>’</a:t>
            </a:r>
            <a:r>
              <a:rPr lang="pl-PL" dirty="0"/>
              <a:t>.</a:t>
            </a:r>
          </a:p>
          <a:p>
            <a:endParaRPr lang="pl-PL" dirty="0"/>
          </a:p>
          <a:p>
            <a:r>
              <a:rPr lang="pl-PL" dirty="0"/>
              <a:t>Zmierzymy metryki takie jak precyzja, czułość czy </a:t>
            </a:r>
            <a:r>
              <a:rPr lang="pl-PL" i="1" dirty="0" err="1"/>
              <a:t>Intersection</a:t>
            </a:r>
            <a:r>
              <a:rPr lang="pl-PL" i="1" dirty="0"/>
              <a:t> </a:t>
            </a:r>
            <a:r>
              <a:rPr lang="pl-PL" i="1" dirty="0" err="1"/>
              <a:t>over</a:t>
            </a:r>
            <a:r>
              <a:rPr lang="pl-PL" i="1" dirty="0"/>
              <a:t> Union</a:t>
            </a:r>
            <a:r>
              <a:rPr lang="pl-PL" dirty="0"/>
              <a:t> (</a:t>
            </a:r>
            <a:r>
              <a:rPr lang="pl-PL" dirty="0" err="1"/>
              <a:t>IoU</a:t>
            </a:r>
            <a:r>
              <a:rPr lang="pl-PL" dirty="0"/>
              <a:t>), aby sprawdzić, czy bogatszy opis językowy pomaga modelowi, czy może go dezorientuje i wymaga od nas ręcznego dostrajania progów czułości. Zaczniemy od reprodukcji wyników zero-</a:t>
            </a:r>
            <a:r>
              <a:rPr lang="pl-PL" dirty="0" err="1"/>
              <a:t>shot</a:t>
            </a:r>
            <a:r>
              <a:rPr lang="pl-PL" dirty="0"/>
              <a:t> na zbiorze COCO.</a:t>
            </a:r>
          </a:p>
          <a:p>
            <a:endParaRPr lang="pl-PL" dirty="0"/>
          </a:p>
          <a:p>
            <a:r>
              <a:rPr lang="pl-PL" dirty="0"/>
              <a:t>Dodatkowo, jeśli pozwolą nam na to zasoby sprzętowe – a będziemy korzystać z lokalnych kart RTX – planujemy podjąć próbę douczania, czyli </a:t>
            </a:r>
            <a:r>
              <a:rPr lang="pl-PL" i="1" dirty="0"/>
              <a:t>fine-</a:t>
            </a:r>
            <a:r>
              <a:rPr lang="pl-PL" i="1" dirty="0" err="1"/>
              <a:t>tuningu</a:t>
            </a:r>
            <a:r>
              <a:rPr lang="pl-PL" dirty="0"/>
              <a:t> tego modelu na mniejszym, własnym zbiorze danych, aby zbadać, jak szybko Grounding DINO adaptuje się do zupełnie nowej domeny.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8531428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efault">
    <p:bg>
      <p:bgPr>
        <a:solidFill>
          <a:srgbClr val="3C3C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36"/>
          <p:cNvSpPr>
            <a:spLocks noGrp="1"/>
          </p:cNvSpPr>
          <p:nvPr>
            <p:ph type="body" sz="quarter" idx="1"/>
          </p:nvPr>
        </p:nvSpPr>
        <p:spPr>
          <a:xfrm>
            <a:off x="3657600" y="7772400"/>
            <a:ext cx="17068800" cy="3505200"/>
          </a:xfrm>
          <a:prstGeom prst="rect">
            <a:avLst/>
          </a:prstGeom>
        </p:spPr>
        <p:txBody>
          <a:bodyPr/>
          <a:lstStyle>
            <a:lvl1pPr algn="ctr"/>
            <a:lvl2pPr marL="0" indent="0" algn="ctr">
              <a:buSzTx/>
              <a:buNone/>
            </a:lvl2pPr>
            <a:lvl3pPr marL="0" algn="ctr">
              <a:buSzTx/>
              <a:buNone/>
            </a:lvl3pPr>
            <a:lvl4pPr marL="0" algn="ctr">
              <a:buSzTx/>
              <a:buNone/>
            </a:lvl4pPr>
            <a:lvl5pPr marL="0" algn="ctr">
              <a:buSzTx/>
              <a:buNone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7" name="Shape 37"/>
          <p:cNvSpPr>
            <a:spLocks noGrp="1"/>
          </p:cNvSpPr>
          <p:nvPr>
            <p:ph type="sldNum" sz="quarter" idx="2"/>
          </p:nvPr>
        </p:nvSpPr>
        <p:spPr>
          <a:xfrm>
            <a:off x="22599689" y="989012"/>
            <a:ext cx="693701" cy="812801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B4A0AA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44"/>
          <p:cNvSpPr>
            <a:spLocks noGrp="1"/>
          </p:cNvSpPr>
          <p:nvPr>
            <p:ph type="title"/>
          </p:nvPr>
        </p:nvSpPr>
        <p:spPr>
          <a:xfrm>
            <a:off x="1270000" y="898525"/>
            <a:ext cx="20296188" cy="230187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5" name="Shape 45"/>
          <p:cNvSpPr>
            <a:spLocks noGrp="1"/>
          </p:cNvSpPr>
          <p:nvPr>
            <p:ph type="body" idx="1"/>
          </p:nvPr>
        </p:nvSpPr>
        <p:spPr>
          <a:xfrm>
            <a:off x="1266825" y="3173409"/>
            <a:ext cx="19483388" cy="8675693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2" name="pole tekstowe 1">
            <a:extLst>
              <a:ext uri="{FF2B5EF4-FFF2-40B4-BE49-F238E27FC236}">
                <a16:creationId xmlns:a16="http://schemas.microsoft.com/office/drawing/2014/main" id="{2A9A240B-F9B9-7549-8E1B-74F8467B7E23}"/>
              </a:ext>
            </a:extLst>
          </p:cNvPr>
          <p:cNvSpPr txBox="1"/>
          <p:nvPr userDrawn="1"/>
        </p:nvSpPr>
        <p:spPr>
          <a:xfrm>
            <a:off x="17784824" y="12662452"/>
            <a:ext cx="5401280" cy="85298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110709" tIns="110709" rIns="110709" bIns="110709" numCol="1" spcCol="38100" rtlCol="0" anchor="b">
            <a:spAutoFit/>
          </a:bodyPr>
          <a:lstStyle/>
          <a:p>
            <a:pPr marL="0" marR="0" indent="0" algn="l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pl-PL" sz="3200" b="0" i="0" u="none" strike="noStrike" cap="none" spc="0" normalizeH="0" baseline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rPr>
              <a:t>Warszawa, 02 listopada 2026 r.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FE0459D3-1299-7B4C-8E7D-59E9A5BE85EB}"/>
              </a:ext>
            </a:extLst>
          </p:cNvPr>
          <p:cNvSpPr txBox="1"/>
          <p:nvPr userDrawn="1"/>
        </p:nvSpPr>
        <p:spPr>
          <a:xfrm>
            <a:off x="6738731" y="12662452"/>
            <a:ext cx="3213343" cy="85298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10709" tIns="110709" rIns="110709" bIns="110709" numCol="1" spcCol="38100" rtlCol="0" anchor="b">
            <a:spAutoFit/>
          </a:bodyPr>
          <a:lstStyle/>
          <a:p>
            <a:pPr marL="0" marR="0" indent="0" algn="l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pl-PL" sz="3200" b="0" i="0" u="none" strike="noStrike" cap="none" spc="0" normalizeH="0" baseline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rPr>
              <a:t>Grounding DINO</a:t>
            </a:r>
            <a:endParaRPr kumimoji="0" lang="pl-PL" sz="3200" b="0" i="1" u="none" strike="noStrike" cap="none" spc="0" normalizeH="0" baseline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FillTx/>
              <a:latin typeface="+mn-lt"/>
              <a:ea typeface="+mn-ea"/>
              <a:cs typeface="+mn-cs"/>
              <a:sym typeface="Times New Roman"/>
            </a:endParaRPr>
          </a:p>
        </p:txBody>
      </p:sp>
      <p:pic>
        <p:nvPicPr>
          <p:cNvPr id="7" name="image3.png">
            <a:extLst>
              <a:ext uri="{FF2B5EF4-FFF2-40B4-BE49-F238E27FC236}">
                <a16:creationId xmlns:a16="http://schemas.microsoft.com/office/drawing/2014/main" id="{77B247D2-2669-CF40-A5C5-9383B3C73CB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9253751" y="1276350"/>
            <a:ext cx="5105403" cy="111633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" name="pasted-image.pdf">
            <a:extLst>
              <a:ext uri="{FF2B5EF4-FFF2-40B4-BE49-F238E27FC236}">
                <a16:creationId xmlns:a16="http://schemas.microsoft.com/office/drawing/2014/main" id="{3FEBF2C8-7012-4A4A-AEDA-59FFB1906E0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77547" y="12711948"/>
            <a:ext cx="2226547" cy="753990"/>
          </a:xfrm>
          <a:prstGeom prst="rect">
            <a:avLst/>
          </a:prstGeom>
          <a:ln w="12700">
            <a:miter lim="400000"/>
          </a:ln>
        </p:spPr>
      </p:pic>
      <p:pic>
        <p:nvPicPr>
          <p:cNvPr id="9" name="image1.png">
            <a:extLst>
              <a:ext uri="{FF2B5EF4-FFF2-40B4-BE49-F238E27FC236}">
                <a16:creationId xmlns:a16="http://schemas.microsoft.com/office/drawing/2014/main" id="{DCDE4F05-29E1-9641-94D0-666413A213E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92815" y="12782636"/>
            <a:ext cx="1833123" cy="61261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53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4" name="Shape 54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5" name="Shape 55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ABA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1.jpeg"/>
          <p:cNvPicPr>
            <a:picLocks noChangeAspect="1"/>
          </p:cNvPicPr>
          <p:nvPr/>
        </p:nvPicPr>
        <p:blipFill>
          <a:blip r:embed="rId5">
            <a:alphaModFix amt="61720"/>
          </a:blip>
          <a:srcRect l="773" t="6618" r="2642" b="17335"/>
          <a:stretch>
            <a:fillRect/>
          </a:stretch>
        </p:blipFill>
        <p:spPr>
          <a:xfrm>
            <a:off x="-2024066" y="-44450"/>
            <a:ext cx="26296944" cy="138049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" name="imag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525" y="12460285"/>
            <a:ext cx="2085975" cy="698504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Shape 4"/>
          <p:cNvSpPr>
            <a:spLocks noGrp="1"/>
          </p:cNvSpPr>
          <p:nvPr>
            <p:ph type="title"/>
          </p:nvPr>
        </p:nvSpPr>
        <p:spPr>
          <a:xfrm>
            <a:off x="1273175" y="898525"/>
            <a:ext cx="20296188" cy="23018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normAutofit/>
          </a:bodyPr>
          <a:lstStyle/>
          <a:p>
            <a:r>
              <a:t>Title Text</a:t>
            </a:r>
          </a:p>
        </p:txBody>
      </p:sp>
      <p:sp>
        <p:nvSpPr>
          <p:cNvPr id="5" name="Shape 5"/>
          <p:cNvSpPr>
            <a:spLocks noGrp="1"/>
          </p:cNvSpPr>
          <p:nvPr>
            <p:ph type="body" idx="1"/>
          </p:nvPr>
        </p:nvSpPr>
        <p:spPr>
          <a:xfrm>
            <a:off x="1219200" y="3200400"/>
            <a:ext cx="21945600" cy="9051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" name="Shape 6"/>
          <p:cNvSpPr>
            <a:spLocks noGrp="1"/>
          </p:cNvSpPr>
          <p:nvPr>
            <p:ph type="sldNum" sz="quarter" idx="2"/>
          </p:nvPr>
        </p:nvSpPr>
        <p:spPr>
          <a:xfrm>
            <a:off x="23810696" y="12288837"/>
            <a:ext cx="882867" cy="10541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>
            <a:spAutoFit/>
          </a:bodyPr>
          <a:lstStyle>
            <a:lvl1pPr algn="r">
              <a:lnSpc>
                <a:spcPct val="93000"/>
              </a:lnSpc>
              <a:spcBef>
                <a:spcPts val="400"/>
              </a:spcBef>
              <a:defRPr sz="6900">
                <a:solidFill>
                  <a:srgbClr val="3C3C4C"/>
                </a:solidFill>
                <a:latin typeface="Radikal WUT"/>
                <a:ea typeface="Radikal WUT"/>
                <a:cs typeface="Radikal WUT"/>
                <a:sym typeface="Radikal WU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</p:sldLayoutIdLst>
  <p:transition spd="med"/>
  <p:hf hdr="0" ftr="0" dt="0"/>
  <p:txStyles>
    <p:titleStyle>
      <a:lvl1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9pPr>
    </p:titleStyle>
    <p:bodyStyle>
      <a:lvl1pPr marL="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1pPr>
      <a:lvl2pPr marL="681566" marR="0" indent="-338666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-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2pPr>
      <a:lvl3pPr marL="3429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-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3pPr>
      <a:lvl4pPr marL="3429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-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4pPr>
      <a:lvl5pPr marL="3429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-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5pPr>
      <a:lvl6pPr marL="8001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•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6pPr>
      <a:lvl7pPr marL="12573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•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7pPr>
      <a:lvl8pPr marL="17145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•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8pPr>
      <a:lvl9pPr marL="21717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•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9pPr>
    </p:bodyStyle>
    <p:otherStyle>
      <a:lvl1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1pPr>
      <a:lvl2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2pPr>
      <a:lvl3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3pPr>
      <a:lvl4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4pPr>
      <a:lvl5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5pPr>
      <a:lvl6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6pPr>
      <a:lvl7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7pPr>
      <a:lvl8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8pPr>
      <a:lvl9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303.05499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huggingface.co/docs/transformers/model_doc/grounding-dino" TargetMode="External"/><Relationship Id="rId4" Type="http://schemas.openxmlformats.org/officeDocument/2006/relationships/hyperlink" Target="https://github.com/IDEA-Research/GroundingDINO/tree/main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96C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2000" y="1157814"/>
            <a:ext cx="5080000" cy="11107766"/>
          </a:xfrm>
          <a:prstGeom prst="rect">
            <a:avLst/>
          </a:prstGeom>
          <a:ln w="12700">
            <a:miter lim="400000"/>
          </a:ln>
        </p:spPr>
      </p:pic>
      <p:pic>
        <p:nvPicPr>
          <p:cNvPr id="70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0" y="11059872"/>
            <a:ext cx="3429000" cy="1154756"/>
          </a:xfrm>
          <a:prstGeom prst="rect">
            <a:avLst/>
          </a:prstGeom>
          <a:ln w="12700">
            <a:miter lim="400000"/>
          </a:ln>
        </p:spPr>
      </p:pic>
      <p:pic>
        <p:nvPicPr>
          <p:cNvPr id="72" name="pasted-image.pd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304" y="1157336"/>
            <a:ext cx="4628477" cy="156737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" name="Grupa 3">
            <a:extLst>
              <a:ext uri="{FF2B5EF4-FFF2-40B4-BE49-F238E27FC236}">
                <a16:creationId xmlns:a16="http://schemas.microsoft.com/office/drawing/2014/main" id="{F7560E98-8B47-E7BD-D6DA-EA6AB074D230}"/>
              </a:ext>
            </a:extLst>
          </p:cNvPr>
          <p:cNvGrpSpPr/>
          <p:nvPr/>
        </p:nvGrpSpPr>
        <p:grpSpPr>
          <a:xfrm>
            <a:off x="762000" y="5232301"/>
            <a:ext cx="17189294" cy="3775426"/>
            <a:chOff x="2667000" y="5167914"/>
            <a:chExt cx="15459554" cy="2842586"/>
          </a:xfrm>
        </p:grpSpPr>
        <p:sp>
          <p:nvSpPr>
            <p:cNvPr id="71" name="Shape 71"/>
            <p:cNvSpPr/>
            <p:nvPr/>
          </p:nvSpPr>
          <p:spPr>
            <a:xfrm>
              <a:off x="2667000" y="5770605"/>
              <a:ext cx="15459554" cy="123917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lnSpc>
                  <a:spcPct val="93000"/>
                </a:lnSpc>
                <a:spcBef>
                  <a:spcPts val="0"/>
                </a:spcBef>
                <a:defRPr sz="7000">
                  <a:solidFill>
                    <a:srgbClr val="3C3C4C"/>
                  </a:solidFill>
                  <a:latin typeface="Adagio_Slab"/>
                  <a:ea typeface="Adagio_Slab"/>
                  <a:cs typeface="Adagio_Slab"/>
                  <a:sym typeface="Adagio_Slab"/>
                </a:defRPr>
              </a:lvl1pPr>
            </a:lstStyle>
            <a:p>
              <a:pPr algn="ctr"/>
              <a:r>
                <a:rPr lang="pl-PL" sz="11500" i="1" dirty="0"/>
                <a:t>Grounding DINO</a:t>
              </a:r>
              <a:endParaRPr sz="11500" i="1" dirty="0"/>
            </a:p>
          </p:txBody>
        </p:sp>
        <p:sp>
          <p:nvSpPr>
            <p:cNvPr id="2" name="pole tekstowe 1">
              <a:extLst>
                <a:ext uri="{FF2B5EF4-FFF2-40B4-BE49-F238E27FC236}">
                  <a16:creationId xmlns:a16="http://schemas.microsoft.com/office/drawing/2014/main" id="{A783F90A-2F92-4B96-AA06-2331F693E78A}"/>
                </a:ext>
              </a:extLst>
            </p:cNvPr>
            <p:cNvSpPr txBox="1"/>
            <p:nvPr/>
          </p:nvSpPr>
          <p:spPr>
            <a:xfrm>
              <a:off x="5245984" y="7009784"/>
              <a:ext cx="10492739" cy="100071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110709" tIns="110709" rIns="110709" bIns="110709" numCol="1" spcCol="38100" rtlCol="0" anchor="t">
              <a:spAutoFit/>
            </a:bodyPr>
            <a:lstStyle/>
            <a:p>
              <a:pPr marL="0" marR="0" indent="0" algn="ctr" defTabSz="1087437" rtl="0" fontAlgn="auto" latinLnBrk="0" hangingPunct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pl-PL" sz="4000" b="0" i="1" u="none" strike="noStrike" cap="none" spc="0" normalizeH="0" baseline="0" dirty="0">
                  <a:ln>
                    <a:noFill/>
                  </a:ln>
                  <a:solidFill>
                    <a:schemeClr val="tx2">
                      <a:lumMod val="50000"/>
                    </a:schemeClr>
                  </a:solidFill>
                  <a:effectLst/>
                  <a:uFillTx/>
                  <a:sym typeface="Times New Roman"/>
                </a:rPr>
                <a:t>Jędrzej Dubiak, Michał Jagodziński, </a:t>
              </a:r>
              <a:r>
                <a:rPr lang="pl-PL" i="1" dirty="0">
                  <a:solidFill>
                    <a:schemeClr val="tx2">
                      <a:lumMod val="50000"/>
                    </a:schemeClr>
                  </a:solidFill>
                </a:rPr>
                <a:t>Rafał Pyłko</a:t>
              </a:r>
              <a:endParaRPr kumimoji="0" lang="pl-PL" sz="4000" b="0" i="1" u="none" strike="noStrike" cap="none" spc="0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FillTx/>
                <a:sym typeface="Times New Roman"/>
              </a:endParaRPr>
            </a:p>
          </p:txBody>
        </p:sp>
        <p:sp>
          <p:nvSpPr>
            <p:cNvPr id="8" name="pole tekstowe 7">
              <a:extLst>
                <a:ext uri="{FF2B5EF4-FFF2-40B4-BE49-F238E27FC236}">
                  <a16:creationId xmlns:a16="http://schemas.microsoft.com/office/drawing/2014/main" id="{61837A94-AB76-4E73-A62B-2F61224FB63A}"/>
                </a:ext>
              </a:extLst>
            </p:cNvPr>
            <p:cNvSpPr txBox="1"/>
            <p:nvPr/>
          </p:nvSpPr>
          <p:spPr>
            <a:xfrm>
              <a:off x="5818795" y="5167914"/>
              <a:ext cx="9155964" cy="697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110709" tIns="110709" rIns="110709" bIns="110709" numCol="1" spcCol="38100" rtlCol="0" anchor="t">
              <a:spAutoFit/>
            </a:bodyPr>
            <a:lstStyle/>
            <a:p>
              <a:pPr marL="0" marR="0" indent="0" algn="ctr" defTabSz="1087437" rtl="0" fontAlgn="auto" latinLnBrk="0" hangingPunct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pl-PL" sz="3600" i="1" dirty="0">
                  <a:solidFill>
                    <a:schemeClr val="tx2">
                      <a:lumMod val="50000"/>
                    </a:schemeClr>
                  </a:solidFill>
                </a:rPr>
                <a:t>Analiza Danych Obrazowych i Multimedialnych</a:t>
              </a:r>
              <a:endParaRPr kumimoji="0" lang="pl-PL" sz="3600" b="0" i="1" u="none" strike="noStrike" cap="none" spc="0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FillTx/>
                <a:sym typeface="Times New Roman"/>
              </a:endParaRPr>
            </a:p>
          </p:txBody>
        </p:sp>
      </p:grpSp>
      <p:sp>
        <p:nvSpPr>
          <p:cNvPr id="3" name="pole tekstowe 2">
            <a:extLst>
              <a:ext uri="{FF2B5EF4-FFF2-40B4-BE49-F238E27FC236}">
                <a16:creationId xmlns:a16="http://schemas.microsoft.com/office/drawing/2014/main" id="{BAA49275-70E8-4D44-B3CF-1B3E98AA4AC5}"/>
              </a:ext>
            </a:extLst>
          </p:cNvPr>
          <p:cNvSpPr txBox="1"/>
          <p:nvPr/>
        </p:nvSpPr>
        <p:spPr>
          <a:xfrm>
            <a:off x="15013172" y="12566637"/>
            <a:ext cx="6693300" cy="100071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110709" tIns="110709" rIns="110709" bIns="110709" numCol="1" spcCol="38100" rtlCol="0" anchor="t">
            <a:spAutoFit/>
          </a:bodyPr>
          <a:lstStyle/>
          <a:p>
            <a:pPr marL="0" marR="0" indent="0" algn="l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pl-PL" sz="4000" b="0" i="0" u="none" strike="noStrike" cap="none" spc="0" normalizeH="0" baseline="0" dirty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rPr>
              <a:t>Warszawa, 0</a:t>
            </a:r>
            <a:r>
              <a:rPr lang="pl-PL" dirty="0">
                <a:solidFill>
                  <a:schemeClr val="tx2"/>
                </a:solidFill>
              </a:rPr>
              <a:t>2</a:t>
            </a:r>
            <a:r>
              <a:rPr kumimoji="0" lang="pl-PL" sz="4000" b="0" i="0" u="none" strike="noStrike" cap="none" spc="0" normalizeH="0" baseline="0" dirty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rPr>
              <a:t> listopada 2026 r.</a:t>
            </a:r>
          </a:p>
        </p:txBody>
      </p:sp>
    </p:spTree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75"/>
          <p:cNvSpPr>
            <a:spLocks noGrp="1"/>
          </p:cNvSpPr>
          <p:nvPr>
            <p:ph type="body" idx="1"/>
          </p:nvPr>
        </p:nvSpPr>
        <p:spPr>
          <a:xfrm>
            <a:off x="1266825" y="3810000"/>
            <a:ext cx="15875000" cy="6985000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Ten szablon </a:t>
            </a:r>
            <a:r>
              <a:rPr lang="pl-PL" b="1" dirty="0"/>
              <a:t>NIE JEST </a:t>
            </a:r>
            <a:r>
              <a:rPr lang="pl-PL" dirty="0"/>
              <a:t>obowiązującym na Wydziale </a:t>
            </a:r>
            <a:r>
              <a:rPr lang="pl-PL" b="1" dirty="0"/>
              <a:t>standardem</a:t>
            </a:r>
            <a:r>
              <a:rPr lang="pl-PL" dirty="0"/>
              <a:t> prezentacji na obronę pracy dyplomowej.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Ten szablon jest </a:t>
            </a:r>
            <a:r>
              <a:rPr lang="pl-PL" b="1" dirty="0"/>
              <a:t>przykładowym</a:t>
            </a:r>
            <a:r>
              <a:rPr lang="pl-PL" dirty="0"/>
              <a:t> szablonem prezentacji, może podlegać zmianom i dostosowaniom do wymogów Komisji egzaminacyjnej, fantazji dyplomanta, pogody itd.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Zawarte w szablonie punkty należy traktować jako zalecane punkty, które warto przedstawić na obronie.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lang="pl-PL" dirty="0"/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Zalecany czas trwania prezentacji – 10 minut!!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lang="pl-PL" dirty="0"/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sz="2800" dirty="0"/>
              <a:t>W szablonie zastosowano kolory i identyfikację wizualną Wydziału oraz obowiązujące na PW kroje czcionek.</a:t>
            </a:r>
          </a:p>
        </p:txBody>
      </p:sp>
      <p:sp>
        <p:nvSpPr>
          <p:cNvPr id="74" name="Shape 74"/>
          <p:cNvSpPr>
            <a:spLocks noGrp="1"/>
          </p:cNvSpPr>
          <p:nvPr>
            <p:ph type="sldNum" sz="quarter" idx="4294967295"/>
          </p:nvPr>
        </p:nvSpPr>
        <p:spPr>
          <a:xfrm>
            <a:off x="23906163" y="906463"/>
            <a:ext cx="477837" cy="1054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</a:t>
            </a:fld>
            <a:endParaRPr dirty="0"/>
          </a:p>
        </p:txBody>
      </p:sp>
      <p:sp>
        <p:nvSpPr>
          <p:cNvPr id="76" name="Shape 76"/>
          <p:cNvSpPr/>
          <p:nvPr/>
        </p:nvSpPr>
        <p:spPr>
          <a:xfrm>
            <a:off x="1266824" y="898525"/>
            <a:ext cx="17348202" cy="1001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r>
              <a:rPr lang="pl-PL" dirty="0"/>
              <a:t>Problem</a:t>
            </a:r>
            <a:endParaRPr dirty="0"/>
          </a:p>
        </p:txBody>
      </p:sp>
    </p:spTree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/>
          <p:cNvSpPr>
            <a:spLocks noGrp="1"/>
          </p:cNvSpPr>
          <p:nvPr>
            <p:ph type="body" idx="1"/>
          </p:nvPr>
        </p:nvSpPr>
        <p:spPr>
          <a:xfrm>
            <a:off x="1266825" y="3810000"/>
            <a:ext cx="15875000" cy="6985000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Tutaj należy zaprezentować motywację do podjęcia tematu pracy i wprowadzić komisję do poruszanej tematyki i przedstawić problem którym się zajmujemy w pracy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dirty="0">
              <a:solidFill>
                <a:srgbClr val="965F77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defRPr sz="3500"/>
            </a:pPr>
            <a:r>
              <a:rPr dirty="0"/>
              <a:t>Lorem ipsum lorem ipsum lorem ipsum Lorem ipsum lorem ipsum </a:t>
            </a:r>
          </a:p>
          <a:p>
            <a:pPr>
              <a:defRPr sz="3500"/>
            </a:pPr>
            <a:r>
              <a:rPr dirty="0"/>
              <a:t>lorem ipsum  Lorem ipsum lorem ipsum lorem ipsum Lorem ipsum lorem ipsum lorem ipsum Lorem ipsum lorem ipsum lorem ipsum Lorem ipsum lorem </a:t>
            </a:r>
          </a:p>
          <a:p>
            <a:pPr>
              <a:defRPr sz="3500"/>
            </a:pPr>
            <a:r>
              <a:rPr dirty="0"/>
              <a:t>ipsum lorem ipsum Lorem ipsum lorem ipsum lorem ipsum</a:t>
            </a:r>
          </a:p>
        </p:txBody>
      </p:sp>
      <p:sp>
        <p:nvSpPr>
          <p:cNvPr id="80" name="Shape 80"/>
          <p:cNvSpPr>
            <a:spLocks noGrp="1"/>
          </p:cNvSpPr>
          <p:nvPr>
            <p:ph type="sldNum" sz="quarter" idx="4294967295"/>
          </p:nvPr>
        </p:nvSpPr>
        <p:spPr>
          <a:xfrm>
            <a:off x="23863300" y="906463"/>
            <a:ext cx="520700" cy="1054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82" name="Shape 82"/>
          <p:cNvSpPr/>
          <p:nvPr/>
        </p:nvSpPr>
        <p:spPr>
          <a:xfrm>
            <a:off x="1266824" y="898525"/>
            <a:ext cx="17348202" cy="1001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r>
              <a:rPr lang="pl-PL" dirty="0"/>
              <a:t>Wejście i wyjście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dissolv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64A01E-A1F3-A552-FDFA-334AF7EEE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>
            <a:extLst>
              <a:ext uri="{FF2B5EF4-FFF2-40B4-BE49-F238E27FC236}">
                <a16:creationId xmlns:a16="http://schemas.microsoft.com/office/drawing/2014/main" id="{4C2CFAAA-0A3D-315B-3AF3-57AA5B3447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6824" y="2349500"/>
            <a:ext cx="15875000" cy="9537700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sz="3500" i="1" dirty="0">
                <a:solidFill>
                  <a:srgbClr val="7896CF"/>
                </a:solidFill>
                <a:latin typeface="Adagio_Slab-Regular_italic"/>
                <a:sym typeface="Adagio_Slab-Regular_italic"/>
              </a:rPr>
              <a:t>Grounding DINO łączy architekturę </a:t>
            </a:r>
            <a:r>
              <a:rPr lang="pl-PL" sz="3500" i="1" dirty="0" err="1">
                <a:solidFill>
                  <a:srgbClr val="7896CF"/>
                </a:solidFill>
                <a:latin typeface="Adagio_Slab-Regular_italic"/>
                <a:sym typeface="Adagio_Slab-Regular_italic"/>
              </a:rPr>
              <a:t>transformerowego</a:t>
            </a:r>
            <a:r>
              <a:rPr lang="pl-PL" sz="3500" i="1" dirty="0">
                <a:solidFill>
                  <a:srgbClr val="7896CF"/>
                </a:solidFill>
                <a:latin typeface="Adagio_Slab-Regular_italic"/>
                <a:sym typeface="Adagio_Slab-Regular_italic"/>
              </a:rPr>
              <a:t> detektora </a:t>
            </a:r>
            <a:r>
              <a:rPr lang="pl-PL" sz="3500" b="1" i="1" dirty="0">
                <a:solidFill>
                  <a:srgbClr val="7896CF"/>
                </a:solidFill>
                <a:latin typeface="Adagio_Slab-Regular_italic"/>
                <a:sym typeface="Adagio_Slab-Regular_italic"/>
              </a:rPr>
              <a:t>DINO</a:t>
            </a:r>
            <a:r>
              <a:rPr lang="pl-PL" sz="3500" i="1" dirty="0">
                <a:solidFill>
                  <a:srgbClr val="7896CF"/>
                </a:solidFill>
                <a:latin typeface="Adagio_Slab-Regular_italic"/>
                <a:sym typeface="Adagio_Slab-Regular_italic"/>
              </a:rPr>
              <a:t> z metodyką </a:t>
            </a:r>
            <a:r>
              <a:rPr lang="pl-PL" sz="3500" b="1" i="1" dirty="0">
                <a:solidFill>
                  <a:srgbClr val="7896CF"/>
                </a:solidFill>
                <a:latin typeface="Adagio_Slab-Regular_italic"/>
                <a:sym typeface="Adagio_Slab-Regular_italic"/>
              </a:rPr>
              <a:t>GLIP</a:t>
            </a:r>
            <a:r>
              <a:rPr lang="pl-PL" sz="3500" i="1" dirty="0">
                <a:solidFill>
                  <a:srgbClr val="7896CF"/>
                </a:solidFill>
                <a:latin typeface="Adagio_Slab-Regular_italic"/>
                <a:sym typeface="Adagio_Slab-Regular_italic"/>
              </a:rPr>
              <a:t> w zakresie przeformułowania detekcji na zadanie </a:t>
            </a:r>
            <a:r>
              <a:rPr lang="pl-PL" sz="3500" i="1" dirty="0" err="1">
                <a:solidFill>
                  <a:srgbClr val="7896CF"/>
                </a:solidFill>
                <a:latin typeface="Adagio_Slab-Regular_italic"/>
                <a:sym typeface="Adagio_Slab-Regular_italic"/>
              </a:rPr>
              <a:t>phrase</a:t>
            </a:r>
            <a:r>
              <a:rPr lang="pl-PL" sz="3500" i="1" dirty="0">
                <a:solidFill>
                  <a:srgbClr val="7896CF"/>
                </a:solidFill>
                <a:latin typeface="Adagio_Slab-Regular_italic"/>
                <a:sym typeface="Adagio_Slab-Regular_italic"/>
              </a:rPr>
              <a:t> Grounding i rozwiązuje ich wspólne problemy.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lang="pl-PL" dirty="0">
              <a:solidFill>
                <a:srgbClr val="965F77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200000"/>
              </a:lnSpc>
              <a:defRPr sz="3500"/>
            </a:pPr>
            <a:r>
              <a:rPr lang="pl-PL" b="1" dirty="0"/>
              <a:t>Mechanizmy zastosowane w Grounding Dino:</a:t>
            </a:r>
          </a:p>
          <a:p>
            <a:pPr marL="1138766" lvl="1" indent="-457200">
              <a:lnSpc>
                <a:spcPct val="200000"/>
              </a:lnSpc>
              <a:buFont typeface="Arial" panose="020B0604020202020204" pitchFamily="34" charset="0"/>
              <a:buChar char="•"/>
              <a:defRPr sz="3500"/>
            </a:pPr>
            <a:r>
              <a:rPr lang="pl-PL" dirty="0"/>
              <a:t>Open-set </a:t>
            </a:r>
            <a:r>
              <a:rPr lang="pl-PL" dirty="0" err="1"/>
              <a:t>object</a:t>
            </a:r>
            <a:r>
              <a:rPr lang="pl-PL" dirty="0"/>
              <a:t> </a:t>
            </a:r>
            <a:r>
              <a:rPr lang="pl-PL" dirty="0" err="1"/>
              <a:t>detection</a:t>
            </a:r>
            <a:endParaRPr lang="pl-PL" dirty="0"/>
          </a:p>
          <a:p>
            <a:pPr marL="1138766" lvl="1" indent="-457200">
              <a:lnSpc>
                <a:spcPct val="200000"/>
              </a:lnSpc>
              <a:buFont typeface="Arial" panose="020B0604020202020204" pitchFamily="34" charset="0"/>
              <a:buChar char="•"/>
              <a:defRPr sz="3500"/>
            </a:pPr>
            <a:r>
              <a:rPr lang="pl-PL" dirty="0" err="1"/>
              <a:t>Grounded</a:t>
            </a:r>
            <a:r>
              <a:rPr lang="pl-PL" dirty="0"/>
              <a:t> </a:t>
            </a:r>
            <a:r>
              <a:rPr lang="pl-PL" dirty="0" err="1"/>
              <a:t>Pre</a:t>
            </a:r>
            <a:r>
              <a:rPr lang="pl-PL" dirty="0"/>
              <a:t>-Training</a:t>
            </a:r>
          </a:p>
          <a:p>
            <a:pPr marL="1138766" lvl="1" indent="-457200">
              <a:lnSpc>
                <a:spcPct val="200000"/>
              </a:lnSpc>
              <a:buFont typeface="Arial" panose="020B0604020202020204" pitchFamily="34" charset="0"/>
              <a:buChar char="•"/>
              <a:defRPr sz="3500"/>
            </a:pPr>
            <a:r>
              <a:rPr lang="pl-PL" dirty="0" err="1"/>
              <a:t>Sub-sentence</a:t>
            </a:r>
            <a:r>
              <a:rPr lang="pl-PL" dirty="0"/>
              <a:t> </a:t>
            </a:r>
            <a:r>
              <a:rPr lang="pl-PL" dirty="0" err="1"/>
              <a:t>text</a:t>
            </a:r>
            <a:r>
              <a:rPr lang="pl-PL" dirty="0"/>
              <a:t> </a:t>
            </a:r>
            <a:r>
              <a:rPr lang="pl-PL" dirty="0" err="1"/>
              <a:t>representation</a:t>
            </a:r>
            <a:endParaRPr lang="pl-PL" dirty="0"/>
          </a:p>
          <a:p>
            <a:pPr marL="1138766" lvl="1" indent="-457200">
              <a:lnSpc>
                <a:spcPct val="200000"/>
              </a:lnSpc>
              <a:buFont typeface="Arial" panose="020B0604020202020204" pitchFamily="34" charset="0"/>
              <a:buChar char="•"/>
              <a:defRPr sz="3500"/>
            </a:pPr>
            <a:r>
              <a:rPr lang="pl-PL" dirty="0" err="1"/>
              <a:t>Tight</a:t>
            </a:r>
            <a:r>
              <a:rPr lang="pl-PL" dirty="0"/>
              <a:t> </a:t>
            </a:r>
            <a:r>
              <a:rPr lang="pl-PL" dirty="0" err="1"/>
              <a:t>feature</a:t>
            </a:r>
            <a:r>
              <a:rPr lang="pl-PL" dirty="0"/>
              <a:t> </a:t>
            </a:r>
            <a:r>
              <a:rPr lang="pl-PL" dirty="0" err="1"/>
              <a:t>fusion</a:t>
            </a:r>
            <a:endParaRPr lang="pl-PL" dirty="0"/>
          </a:p>
          <a:p>
            <a:pPr marL="1138766" lvl="1" indent="-457200">
              <a:lnSpc>
                <a:spcPct val="200000"/>
              </a:lnSpc>
              <a:buFont typeface="Arial" panose="020B0604020202020204" pitchFamily="34" charset="0"/>
              <a:buChar char="•"/>
              <a:defRPr sz="3500"/>
            </a:pPr>
            <a:r>
              <a:rPr lang="pl-PL" dirty="0"/>
              <a:t>Language-</a:t>
            </a:r>
            <a:r>
              <a:rPr lang="pl-PL" dirty="0" err="1"/>
              <a:t>Guided</a:t>
            </a:r>
            <a:r>
              <a:rPr lang="pl-PL" dirty="0"/>
              <a:t> Query </a:t>
            </a:r>
            <a:r>
              <a:rPr lang="pl-PL" dirty="0" err="1"/>
              <a:t>Selection</a:t>
            </a:r>
            <a:endParaRPr lang="pl-PL" dirty="0"/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  <a:defRPr sz="3500"/>
            </a:pPr>
            <a:endParaRPr lang="pl-PL" dirty="0"/>
          </a:p>
          <a:p>
            <a:pPr marL="457200" indent="-457200">
              <a:buFont typeface="Arial" panose="020B0604020202020204" pitchFamily="34" charset="0"/>
              <a:buChar char="•"/>
              <a:defRPr sz="3500"/>
            </a:pPr>
            <a:endParaRPr dirty="0"/>
          </a:p>
        </p:txBody>
      </p:sp>
      <p:sp>
        <p:nvSpPr>
          <p:cNvPr id="80" name="Shape 80">
            <a:extLst>
              <a:ext uri="{FF2B5EF4-FFF2-40B4-BE49-F238E27FC236}">
                <a16:creationId xmlns:a16="http://schemas.microsoft.com/office/drawing/2014/main" id="{46425295-F83F-4016-8B3C-0D7016C4621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23863300" y="906463"/>
            <a:ext cx="520700" cy="10541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  <p:sp>
        <p:nvSpPr>
          <p:cNvPr id="82" name="Shape 82">
            <a:extLst>
              <a:ext uri="{FF2B5EF4-FFF2-40B4-BE49-F238E27FC236}">
                <a16:creationId xmlns:a16="http://schemas.microsoft.com/office/drawing/2014/main" id="{65E84B7D-748F-E0EE-902A-92080C5899A6}"/>
              </a:ext>
            </a:extLst>
          </p:cNvPr>
          <p:cNvSpPr/>
          <p:nvPr/>
        </p:nvSpPr>
        <p:spPr>
          <a:xfrm>
            <a:off x="1266824" y="898525"/>
            <a:ext cx="17348202" cy="1001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r>
              <a:rPr lang="pl-PL" dirty="0"/>
              <a:t>Cechy Grounding </a:t>
            </a:r>
            <a:r>
              <a:rPr lang="pl-PL" dirty="0" err="1"/>
              <a:t>DINOzar</a:t>
            </a:r>
            <a:endParaRPr dirty="0"/>
          </a:p>
        </p:txBody>
      </p:sp>
      <p:grpSp>
        <p:nvGrpSpPr>
          <p:cNvPr id="5" name="Grupa 4">
            <a:extLst>
              <a:ext uri="{FF2B5EF4-FFF2-40B4-BE49-F238E27FC236}">
                <a16:creationId xmlns:a16="http://schemas.microsoft.com/office/drawing/2014/main" id="{BED7C42D-D589-CD33-674A-E2339F9D2387}"/>
              </a:ext>
            </a:extLst>
          </p:cNvPr>
          <p:cNvGrpSpPr/>
          <p:nvPr/>
        </p:nvGrpSpPr>
        <p:grpSpPr>
          <a:xfrm>
            <a:off x="9754747" y="6560998"/>
            <a:ext cx="8860279" cy="3339053"/>
            <a:chOff x="9846821" y="4617898"/>
            <a:chExt cx="8860279" cy="3339053"/>
          </a:xfrm>
        </p:grpSpPr>
        <p:pic>
          <p:nvPicPr>
            <p:cNvPr id="3" name="Obraz 2">
              <a:extLst>
                <a:ext uri="{FF2B5EF4-FFF2-40B4-BE49-F238E27FC236}">
                  <a16:creationId xmlns:a16="http://schemas.microsoft.com/office/drawing/2014/main" id="{B8D710C4-177E-A84D-7EEA-BD1610E69B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846821" y="4617898"/>
              <a:ext cx="8860279" cy="2793060"/>
            </a:xfrm>
            <a:prstGeom prst="roundRect">
              <a:avLst>
                <a:gd name="adj" fmla="val 10259"/>
              </a:avLst>
            </a:prstGeom>
            <a:ln w="57150">
              <a:solidFill>
                <a:srgbClr val="7896CF"/>
              </a:solidFill>
            </a:ln>
          </p:spPr>
        </p:pic>
        <p:sp>
          <p:nvSpPr>
            <p:cNvPr id="4" name="pole tekstowe 3">
              <a:extLst>
                <a:ext uri="{FF2B5EF4-FFF2-40B4-BE49-F238E27FC236}">
                  <a16:creationId xmlns:a16="http://schemas.microsoft.com/office/drawing/2014/main" id="{11AF2D47-C799-95CB-F25E-26C7D79B0B10}"/>
                </a:ext>
              </a:extLst>
            </p:cNvPr>
            <p:cNvSpPr txBox="1"/>
            <p:nvPr/>
          </p:nvSpPr>
          <p:spPr>
            <a:xfrm>
              <a:off x="12175110" y="7251700"/>
              <a:ext cx="4325364" cy="7052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110709" tIns="110709" rIns="110709" bIns="110709" numCol="1" spcCol="38100" rtlCol="0" anchor="t">
              <a:spAutoFit/>
            </a:bodyPr>
            <a:lstStyle/>
            <a:p>
              <a:pPr marL="0" marR="0" indent="0" algn="l" defTabSz="1087437" rtl="0" fontAlgn="auto" latinLnBrk="0" hangingPunct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pl-PL" sz="2400" b="0" i="0" u="none" strike="noStrike" cap="none" spc="0" normalizeH="0" baseline="0" dirty="0">
                  <a:ln>
                    <a:noFill/>
                  </a:ln>
                  <a:solidFill>
                    <a:schemeClr val="bg2">
                      <a:lumMod val="75000"/>
                    </a:schemeClr>
                  </a:solidFill>
                  <a:effectLst/>
                  <a:uFillTx/>
                  <a:latin typeface="Adagio_Slab"/>
                  <a:sym typeface="Times New Roman"/>
                </a:rPr>
                <a:t>Porównanie reprezentacji tekstu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87053119"/>
      </p:ext>
    </p:extLst>
  </p:cSld>
  <p:clrMapOvr>
    <a:masterClrMapping/>
  </p:clrMapOvr>
  <p:transition spd="slow">
    <p:dissolv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/>
          <p:cNvSpPr>
            <a:spLocks noGrp="1"/>
          </p:cNvSpPr>
          <p:nvPr>
            <p:ph type="body" idx="1"/>
          </p:nvPr>
        </p:nvSpPr>
        <p:spPr>
          <a:xfrm>
            <a:off x="784224" y="2392855"/>
            <a:ext cx="8151022" cy="1001813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Architektura dual-</a:t>
            </a:r>
            <a:r>
              <a:rPr lang="pl-PL" dirty="0" err="1"/>
              <a:t>encoder</a:t>
            </a:r>
            <a:r>
              <a:rPr lang="pl-PL" dirty="0"/>
              <a:t> &amp; single-</a:t>
            </a:r>
            <a:r>
              <a:rPr lang="pl-PL" dirty="0" err="1"/>
              <a:t>decoder</a:t>
            </a:r>
            <a:endParaRPr lang="pl-PL" dirty="0"/>
          </a:p>
        </p:txBody>
      </p:sp>
      <p:sp>
        <p:nvSpPr>
          <p:cNvPr id="80" name="Shape 80"/>
          <p:cNvSpPr>
            <a:spLocks noGrp="1"/>
          </p:cNvSpPr>
          <p:nvPr>
            <p:ph type="sldNum" sz="quarter" idx="4294967295"/>
          </p:nvPr>
        </p:nvSpPr>
        <p:spPr>
          <a:xfrm>
            <a:off x="23863300" y="906463"/>
            <a:ext cx="520700" cy="1054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pPr marL="0" marR="0" lvl="0" indent="0" algn="r" defTabSz="1087437" rtl="0" eaLnBrk="1" fontAlgn="auto" latinLnBrk="0" hangingPunct="0">
              <a:lnSpc>
                <a:spcPct val="93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6900" b="0" i="0" u="none" strike="noStrike" kern="0" cap="none" spc="0" normalizeH="0" baseline="0" noProof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Radikal WUT"/>
                <a:sym typeface="Radikal WUT"/>
              </a:rPr>
              <a:pPr marL="0" marR="0" lvl="0" indent="0" algn="r" defTabSz="1087437" rtl="0" eaLnBrk="1" fontAlgn="auto" latinLnBrk="0" hangingPunct="0">
                <a:lnSpc>
                  <a:spcPct val="93000"/>
                </a:lnSpc>
                <a:spcBef>
                  <a:spcPts val="4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sz="6900" b="0" i="0" u="none" strike="noStrike" kern="0" cap="none" spc="0" normalizeH="0" baseline="0" noProof="0" dirty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Radikal WUT"/>
              <a:sym typeface="Radikal WUT"/>
            </a:endParaRPr>
          </a:p>
        </p:txBody>
      </p:sp>
      <p:sp>
        <p:nvSpPr>
          <p:cNvPr id="82" name="Shape 82"/>
          <p:cNvSpPr/>
          <p:nvPr/>
        </p:nvSpPr>
        <p:spPr>
          <a:xfrm>
            <a:off x="1266824" y="898525"/>
            <a:ext cx="17348202" cy="1001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pPr marL="0" marR="0" lvl="0" indent="0" algn="l" defTabSz="1087437" rtl="0" eaLnBrk="1" fontAlgn="auto" latinLnBrk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sz="7000" b="0" i="0" u="none" strike="noStrike" kern="0" cap="none" spc="0" normalizeH="0" baseline="0" noProof="0" dirty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Adagio_Slab"/>
                <a:sym typeface="Adagio_Slab"/>
              </a:rPr>
              <a:t>Główne komponenty</a:t>
            </a:r>
            <a:endParaRPr kumimoji="0" sz="7000" b="0" i="0" u="none" strike="noStrike" kern="0" cap="none" spc="0" normalizeH="0" baseline="0" noProof="0" dirty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Adagio_Slab"/>
              <a:sym typeface="Adagio_Slab"/>
            </a:endParaRPr>
          </a:p>
        </p:txBody>
      </p:sp>
      <p:pic>
        <p:nvPicPr>
          <p:cNvPr id="2" name="Obraz 1">
            <a:extLst>
              <a:ext uri="{FF2B5EF4-FFF2-40B4-BE49-F238E27FC236}">
                <a16:creationId xmlns:a16="http://schemas.microsoft.com/office/drawing/2014/main" id="{C52B5C21-F125-72F1-689D-41EFB9421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0700" y="1757286"/>
            <a:ext cx="13608846" cy="9440692"/>
          </a:xfrm>
          <a:prstGeom prst="roundRect">
            <a:avLst>
              <a:gd name="adj" fmla="val 10394"/>
            </a:avLst>
          </a:prstGeom>
          <a:ln w="57150">
            <a:solidFill>
              <a:srgbClr val="7896CF"/>
            </a:solidFill>
          </a:ln>
        </p:spPr>
      </p:pic>
      <p:sp>
        <p:nvSpPr>
          <p:cNvPr id="4" name="pole tekstowe 3">
            <a:extLst>
              <a:ext uri="{FF2B5EF4-FFF2-40B4-BE49-F238E27FC236}">
                <a16:creationId xmlns:a16="http://schemas.microsoft.com/office/drawing/2014/main" id="{927CBD9B-B82D-4042-A9FA-58408183A052}"/>
              </a:ext>
            </a:extLst>
          </p:cNvPr>
          <p:cNvSpPr txBox="1"/>
          <p:nvPr/>
        </p:nvSpPr>
        <p:spPr>
          <a:xfrm>
            <a:off x="291835" y="3750268"/>
            <a:ext cx="8643411" cy="710854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10709" tIns="110709" rIns="110709" bIns="110709" numCol="1" spcCol="38100" rtlCol="0" anchor="t">
            <a:spAutoFit/>
          </a:bodyPr>
          <a:lstStyle/>
          <a:p>
            <a:pPr lvl="0"/>
            <a:r>
              <a:rPr lang="pl-PL" sz="3200" b="1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Ekstrakcja cech</a:t>
            </a:r>
            <a:endParaRPr lang="pl-PL" sz="3200" dirty="0">
              <a:solidFill>
                <a:schemeClr val="tx2">
                  <a:lumMod val="75000"/>
                </a:schemeClr>
              </a:solidFill>
              <a:latin typeface="Adagio_Slab"/>
            </a:endParaRPr>
          </a:p>
          <a:p>
            <a:pPr lvl="3"/>
            <a:r>
              <a:rPr lang="pl-PL" sz="3200" b="1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	Obraz:</a:t>
            </a:r>
            <a:r>
              <a:rPr lang="pl-PL" sz="3200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 </a:t>
            </a:r>
            <a:r>
              <a:rPr lang="pl-PL" sz="3200" i="1" dirty="0" err="1">
                <a:solidFill>
                  <a:schemeClr val="tx2">
                    <a:lumMod val="75000"/>
                  </a:schemeClr>
                </a:solidFill>
                <a:latin typeface="Adagio_Slab"/>
              </a:rPr>
              <a:t>Swin</a:t>
            </a:r>
            <a:r>
              <a:rPr lang="pl-PL" sz="3200" i="1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 Transformer</a:t>
            </a:r>
            <a:endParaRPr lang="pl-PL" sz="3200" dirty="0">
              <a:solidFill>
                <a:schemeClr val="tx2">
                  <a:lumMod val="75000"/>
                </a:schemeClr>
              </a:solidFill>
              <a:latin typeface="Adagio_Slab"/>
            </a:endParaRPr>
          </a:p>
          <a:p>
            <a:pPr lvl="3"/>
            <a:r>
              <a:rPr lang="pl-PL" sz="3200" b="1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	Tekst:</a:t>
            </a:r>
            <a:r>
              <a:rPr lang="pl-PL" sz="3200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 </a:t>
            </a:r>
            <a:r>
              <a:rPr lang="pl-PL" sz="3200" i="1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BERT</a:t>
            </a:r>
            <a:endParaRPr lang="pl-PL" sz="3200" dirty="0">
              <a:solidFill>
                <a:schemeClr val="tx2">
                  <a:lumMod val="75000"/>
                </a:schemeClr>
              </a:solidFill>
              <a:latin typeface="Adagio_Slab"/>
            </a:endParaRPr>
          </a:p>
          <a:p>
            <a:pPr lvl="0"/>
            <a:r>
              <a:rPr lang="pl-PL" sz="3200" b="1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3 Fazy ścisłej fuzji</a:t>
            </a:r>
            <a:endParaRPr lang="pl-PL" sz="3200" dirty="0">
              <a:solidFill>
                <a:schemeClr val="tx2">
                  <a:lumMod val="75000"/>
                </a:schemeClr>
              </a:solidFill>
              <a:latin typeface="Adagio_Slab"/>
            </a:endParaRPr>
          </a:p>
          <a:p>
            <a:pPr lvl="1"/>
            <a:r>
              <a:rPr lang="pl-PL" sz="3200" b="1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	Faza 1 - </a:t>
            </a:r>
            <a:r>
              <a:rPr lang="pl-PL" sz="3200" b="1" i="1" dirty="0" err="1">
                <a:solidFill>
                  <a:schemeClr val="tx2">
                    <a:lumMod val="75000"/>
                  </a:schemeClr>
                </a:solidFill>
                <a:latin typeface="Adagio_Slab"/>
              </a:rPr>
              <a:t>Feature</a:t>
            </a:r>
            <a:r>
              <a:rPr lang="pl-PL" sz="3200" b="1" i="1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 </a:t>
            </a:r>
            <a:r>
              <a:rPr lang="pl-PL" sz="3200" b="1" i="1" dirty="0" err="1">
                <a:solidFill>
                  <a:schemeClr val="tx2">
                    <a:lumMod val="75000"/>
                  </a:schemeClr>
                </a:solidFill>
                <a:latin typeface="Adagio_Slab"/>
              </a:rPr>
              <a:t>Enhancer</a:t>
            </a:r>
            <a:r>
              <a:rPr lang="pl-PL" sz="3200" b="1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:</a:t>
            </a:r>
            <a:endParaRPr lang="pl-PL" sz="3200" dirty="0">
              <a:solidFill>
                <a:schemeClr val="tx2">
                  <a:lumMod val="75000"/>
                </a:schemeClr>
              </a:solidFill>
              <a:latin typeface="Adagio_Slab"/>
            </a:endParaRPr>
          </a:p>
          <a:p>
            <a:pPr lvl="3"/>
            <a:r>
              <a:rPr lang="pl-PL" sz="3200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		Dwukierunkowa uwaga krzyżowa</a:t>
            </a:r>
          </a:p>
          <a:p>
            <a:pPr lvl="3"/>
            <a:r>
              <a:rPr lang="pl-PL" sz="3200" b="1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	Faza 2 - </a:t>
            </a:r>
            <a:r>
              <a:rPr lang="pl-PL" sz="3200" b="1" i="1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Language-</a:t>
            </a:r>
            <a:r>
              <a:rPr lang="pl-PL" sz="3200" b="1" i="1" dirty="0" err="1">
                <a:solidFill>
                  <a:schemeClr val="tx2">
                    <a:lumMod val="75000"/>
                  </a:schemeClr>
                </a:solidFill>
                <a:latin typeface="Adagio_Slab"/>
              </a:rPr>
              <a:t>Guided</a:t>
            </a:r>
            <a:r>
              <a:rPr lang="pl-PL" sz="3200" b="1" i="1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 Query </a:t>
            </a:r>
            <a:r>
              <a:rPr lang="pl-PL" sz="3200" b="1" i="1" dirty="0" err="1">
                <a:solidFill>
                  <a:schemeClr val="tx2">
                    <a:lumMod val="75000"/>
                  </a:schemeClr>
                </a:solidFill>
                <a:latin typeface="Adagio_Slab"/>
              </a:rPr>
              <a:t>Selection</a:t>
            </a:r>
            <a:r>
              <a:rPr lang="pl-PL" sz="3200" b="1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:</a:t>
            </a:r>
            <a:endParaRPr lang="pl-PL" sz="3200" dirty="0">
              <a:solidFill>
                <a:schemeClr val="tx2">
                  <a:lumMod val="75000"/>
                </a:schemeClr>
              </a:solidFill>
              <a:latin typeface="Adagio_Slab"/>
            </a:endParaRPr>
          </a:p>
          <a:p>
            <a:pPr lvl="2"/>
            <a:r>
              <a:rPr lang="pl-PL" sz="3200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		Wybór kwerend sterowany językiem. </a:t>
            </a:r>
          </a:p>
          <a:p>
            <a:pPr lvl="1"/>
            <a:r>
              <a:rPr lang="pl-PL" sz="3200" b="1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	Faza 3 - </a:t>
            </a:r>
            <a:r>
              <a:rPr lang="pl-PL" sz="3200" b="1" i="1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Cross-</a:t>
            </a:r>
            <a:r>
              <a:rPr lang="pl-PL" sz="3200" b="1" i="1" dirty="0" err="1">
                <a:solidFill>
                  <a:schemeClr val="tx2">
                    <a:lumMod val="75000"/>
                  </a:schemeClr>
                </a:solidFill>
                <a:latin typeface="Adagio_Slab"/>
              </a:rPr>
              <a:t>Modality</a:t>
            </a:r>
            <a:r>
              <a:rPr lang="pl-PL" sz="3200" b="1" i="1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 </a:t>
            </a:r>
            <a:r>
              <a:rPr lang="pl-PL" sz="3200" b="1" i="1" dirty="0" err="1">
                <a:solidFill>
                  <a:schemeClr val="tx2">
                    <a:lumMod val="75000"/>
                  </a:schemeClr>
                </a:solidFill>
                <a:latin typeface="Adagio_Slab"/>
              </a:rPr>
              <a:t>Decoder</a:t>
            </a:r>
            <a:r>
              <a:rPr lang="pl-PL" sz="3200" b="1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:</a:t>
            </a:r>
            <a:endParaRPr lang="pl-PL" sz="3200" dirty="0">
              <a:solidFill>
                <a:schemeClr val="tx2">
                  <a:lumMod val="75000"/>
                </a:schemeClr>
              </a:solidFill>
              <a:latin typeface="Adagio_Slab"/>
            </a:endParaRPr>
          </a:p>
          <a:p>
            <a:pPr lvl="2"/>
            <a:r>
              <a:rPr lang="pl-PL" sz="3200" dirty="0">
                <a:solidFill>
                  <a:schemeClr val="tx2">
                    <a:lumMod val="75000"/>
                  </a:schemeClr>
                </a:solidFill>
                <a:latin typeface="Adagio_Slab"/>
              </a:rPr>
              <a:t>		Uszczegóławianie propozycji 			obiektów w warstwach dekodera.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794AC01E-B69C-0A9A-2393-FBDE7D1B735E}"/>
              </a:ext>
            </a:extLst>
          </p:cNvPr>
          <p:cNvSpPr txBox="1"/>
          <p:nvPr/>
        </p:nvSpPr>
        <p:spPr>
          <a:xfrm>
            <a:off x="12500936" y="11118356"/>
            <a:ext cx="7428374" cy="7052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10709" tIns="110709" rIns="110709" bIns="110709" numCol="1" spcCol="38100" rtlCol="0" anchor="t">
            <a:spAutoFit/>
          </a:bodyPr>
          <a:lstStyle/>
          <a:p>
            <a:pPr marL="0" marR="0" indent="0" algn="l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l-PL" sz="2400" dirty="0">
                <a:solidFill>
                  <a:schemeClr val="bg2">
                    <a:lumMod val="75000"/>
                  </a:schemeClr>
                </a:solidFill>
                <a:latin typeface="Adagio_Slab"/>
              </a:rPr>
              <a:t>Wizualizacja architektury modelu Grounding DINO</a:t>
            </a:r>
            <a:endParaRPr kumimoji="0" lang="pl-PL" sz="2400" b="0" i="0" u="none" strike="noStrike" cap="none" spc="0" normalizeH="0" baseline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FillTx/>
              <a:latin typeface="Adagio_Slab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93542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dissolv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/>
          <p:cNvSpPr>
            <a:spLocks noGrp="1"/>
          </p:cNvSpPr>
          <p:nvPr>
            <p:ph type="body" idx="1"/>
          </p:nvPr>
        </p:nvSpPr>
        <p:spPr>
          <a:xfrm>
            <a:off x="1266824" y="3810000"/>
            <a:ext cx="14918056" cy="6985000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sz="4400" i="1" dirty="0">
                <a:sym typeface="Adagio_Slab-Regular_italic"/>
              </a:rPr>
              <a:t>„Grounding DINO: </a:t>
            </a:r>
            <a:r>
              <a:rPr lang="pl-PL" sz="4400" i="1" dirty="0" err="1">
                <a:sym typeface="Adagio_Slab-Regular_italic"/>
              </a:rPr>
              <a:t>Marrying</a:t>
            </a:r>
            <a:r>
              <a:rPr lang="pl-PL" sz="4400" i="1" dirty="0">
                <a:sym typeface="Adagio_Slab-Regular_italic"/>
              </a:rPr>
              <a:t> DINO with </a:t>
            </a:r>
            <a:r>
              <a:rPr lang="pl-PL" sz="4400" i="1" dirty="0" err="1">
                <a:sym typeface="Adagio_Slab-Regular_italic"/>
              </a:rPr>
              <a:t>Grounded</a:t>
            </a:r>
            <a:r>
              <a:rPr lang="pl-PL" sz="4400" i="1" dirty="0">
                <a:sym typeface="Adagio_Slab-Regular_italic"/>
              </a:rPr>
              <a:t> </a:t>
            </a:r>
            <a:r>
              <a:rPr lang="pl-PL" sz="4400" i="1" dirty="0" err="1">
                <a:sym typeface="Adagio_Slab-Regular_italic"/>
              </a:rPr>
              <a:t>Pre</a:t>
            </a:r>
            <a:r>
              <a:rPr lang="pl-PL" sz="4400" i="1" dirty="0">
                <a:sym typeface="Adagio_Slab-Regular_italic"/>
              </a:rPr>
              <a:t>-Training for Open-Set Object </a:t>
            </a:r>
            <a:r>
              <a:rPr lang="pl-PL" sz="4400" i="1" dirty="0" err="1">
                <a:sym typeface="Adagio_Slab-Regular_italic"/>
              </a:rPr>
              <a:t>Detection</a:t>
            </a:r>
            <a:r>
              <a:rPr lang="pl-PL" sz="4400" i="1" dirty="0">
                <a:sym typeface="Adagio_Slab-Regular_italic"/>
              </a:rPr>
              <a:t>”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i="1" dirty="0" err="1">
                <a:solidFill>
                  <a:schemeClr val="tx2"/>
                </a:solidFill>
                <a:sym typeface="Adagio_Slab-Regular_italic"/>
              </a:rPr>
              <a:t>Shilong</a:t>
            </a:r>
            <a:r>
              <a:rPr lang="pl-PL" i="1" dirty="0">
                <a:solidFill>
                  <a:schemeClr val="tx2"/>
                </a:solidFill>
                <a:sym typeface="Adagio_Slab-Regular_italic"/>
              </a:rPr>
              <a:t> </a:t>
            </a:r>
            <a:r>
              <a:rPr lang="pl-PL" i="1" dirty="0" err="1">
                <a:solidFill>
                  <a:schemeClr val="tx2"/>
                </a:solidFill>
                <a:sym typeface="Adagio_Slab-Regular_italic"/>
              </a:rPr>
              <a:t>Liu</a:t>
            </a:r>
            <a:r>
              <a:rPr lang="pl-PL" i="1" dirty="0">
                <a:solidFill>
                  <a:schemeClr val="tx2"/>
                </a:solidFill>
                <a:sym typeface="Adagio_Slab-Regular_italic"/>
              </a:rPr>
              <a:t> , </a:t>
            </a:r>
            <a:r>
              <a:rPr lang="pl-PL" i="1" dirty="0" err="1">
                <a:solidFill>
                  <a:schemeClr val="tx2"/>
                </a:solidFill>
                <a:sym typeface="Adagio_Slab-Regular_italic"/>
              </a:rPr>
              <a:t>Zhaoyang</a:t>
            </a:r>
            <a:r>
              <a:rPr lang="pl-PL" i="1" dirty="0">
                <a:solidFill>
                  <a:schemeClr val="tx2"/>
                </a:solidFill>
                <a:sym typeface="Adagio_Slab-Regular_italic"/>
              </a:rPr>
              <a:t> </a:t>
            </a:r>
            <a:r>
              <a:rPr lang="pl-PL" i="1" dirty="0" err="1">
                <a:solidFill>
                  <a:schemeClr val="tx2"/>
                </a:solidFill>
                <a:sym typeface="Adagio_Slab-Regular_italic"/>
              </a:rPr>
              <a:t>Zeng</a:t>
            </a:r>
            <a:r>
              <a:rPr lang="pl-PL" i="1" dirty="0">
                <a:solidFill>
                  <a:schemeClr val="tx2"/>
                </a:solidFill>
                <a:sym typeface="Adagio_Slab-Regular_italic"/>
              </a:rPr>
              <a:t> , </a:t>
            </a:r>
            <a:r>
              <a:rPr lang="pl-PL" i="1" dirty="0" err="1">
                <a:solidFill>
                  <a:schemeClr val="tx2"/>
                </a:solidFill>
                <a:sym typeface="Adagio_Slab-Regular_italic"/>
              </a:rPr>
              <a:t>Tianhe</a:t>
            </a:r>
            <a:r>
              <a:rPr lang="pl-PL" i="1" dirty="0">
                <a:solidFill>
                  <a:schemeClr val="tx2"/>
                </a:solidFill>
                <a:sym typeface="Adagio_Slab-Regular_italic"/>
              </a:rPr>
              <a:t> Ren et al. </a:t>
            </a:r>
            <a:r>
              <a:rPr lang="pl-PL" sz="28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Adagio_Slab-Regular_italic"/>
              </a:rPr>
              <a:t>(</a:t>
            </a:r>
            <a:r>
              <a:rPr lang="pl-PL" sz="2800" i="1" dirty="0" err="1">
                <a:solidFill>
                  <a:schemeClr val="tx2"/>
                </a:solidFill>
                <a:latin typeface="+mj-lt"/>
                <a:ea typeface="+mj-ea"/>
                <a:cs typeface="+mj-cs"/>
                <a:sym typeface="Adagio_Slab-Regular_italic"/>
              </a:rPr>
              <a:t>arXiv</a:t>
            </a:r>
            <a:r>
              <a:rPr lang="pl-PL" sz="28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Adagio_Slab-Regular_italic"/>
              </a:rPr>
              <a:t>: </a:t>
            </a:r>
            <a:r>
              <a:rPr lang="pl-PL" sz="28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Adagio_Slab-Regular_italic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2303.05499</a:t>
            </a:r>
            <a:r>
              <a:rPr lang="pl-PL" sz="28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Adagio_Slab-Regular_italic"/>
              </a:rPr>
              <a:t>)</a:t>
            </a:r>
            <a:endParaRPr lang="pl-PL" sz="2800" i="1" dirty="0">
              <a:solidFill>
                <a:schemeClr val="tx2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lang="pl-PL" sz="3500" i="1" dirty="0">
              <a:solidFill>
                <a:schemeClr val="tx2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sz="3500" b="1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</a:rPr>
              <a:t>Kod:</a:t>
            </a:r>
            <a:endParaRPr lang="pl-PL" sz="3500" i="1" dirty="0">
              <a:solidFill>
                <a:schemeClr val="tx2"/>
              </a:solidFill>
              <a:latin typeface="+mj-lt"/>
              <a:ea typeface="+mj-ea"/>
              <a:cs typeface="+mj-cs"/>
              <a:sym typeface="Helvetica"/>
            </a:endParaRPr>
          </a:p>
          <a:p>
            <a:pPr marL="457200" indent="-457200">
              <a:buFont typeface="Arial" panose="020B0604020202020204" pitchFamily="34" charset="0"/>
              <a:buChar char="•"/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sz="35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</a:rPr>
              <a:t>oficjalne repozytorium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sz="35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</a:rPr>
              <a:t>	(</a:t>
            </a:r>
            <a:r>
              <a:rPr lang="pl-PL" sz="35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https://github.com/IDEA-Research/GroundingDINO/tree/main</a:t>
            </a:r>
            <a:r>
              <a:rPr lang="pl-PL" sz="35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</a:rPr>
              <a:t>)</a:t>
            </a:r>
          </a:p>
          <a:p>
            <a:pPr marL="457200" indent="-457200">
              <a:buFont typeface="Arial" panose="020B0604020202020204" pitchFamily="34" charset="0"/>
              <a:buChar char="•"/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sz="35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</a:rPr>
              <a:t>biblioteka </a:t>
            </a:r>
            <a:r>
              <a:rPr lang="pl-PL" sz="3500" i="1" dirty="0" err="1">
                <a:solidFill>
                  <a:schemeClr val="tx2"/>
                </a:solidFill>
                <a:latin typeface="Courier New" panose="02070309020205020404" pitchFamily="49" charset="0"/>
                <a:ea typeface="+mj-ea"/>
                <a:cs typeface="Courier New" panose="02070309020205020404" pitchFamily="49" charset="0"/>
                <a:sym typeface="Helvetica"/>
              </a:rPr>
              <a:t>transformers</a:t>
            </a:r>
            <a:r>
              <a:rPr lang="pl-PL" sz="35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</a:rPr>
              <a:t> w </a:t>
            </a:r>
            <a:r>
              <a:rPr lang="pl-PL" sz="3500" i="1" dirty="0" err="1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</a:rPr>
              <a:t>HuggingFace</a:t>
            </a:r>
            <a:r>
              <a:rPr lang="pl-PL" sz="35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</a:rPr>
              <a:t> 	(</a:t>
            </a:r>
            <a:r>
              <a:rPr lang="pl-PL" sz="35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https://huggingface.co/docs/transformers/model_doc/grounding-dino</a:t>
            </a:r>
            <a:r>
              <a:rPr lang="pl-PL" sz="35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</a:rPr>
              <a:t>)</a:t>
            </a:r>
            <a:endParaRPr lang="pl-PL" sz="3500" i="1" dirty="0">
              <a:solidFill>
                <a:schemeClr val="tx2"/>
              </a:solidFill>
              <a:sym typeface="Adagio_Slab-Regular_italic"/>
            </a:endParaRPr>
          </a:p>
        </p:txBody>
      </p:sp>
      <p:sp>
        <p:nvSpPr>
          <p:cNvPr id="80" name="Shape 80"/>
          <p:cNvSpPr>
            <a:spLocks noGrp="1"/>
          </p:cNvSpPr>
          <p:nvPr>
            <p:ph type="sldNum" sz="quarter" idx="4294967295"/>
          </p:nvPr>
        </p:nvSpPr>
        <p:spPr>
          <a:xfrm>
            <a:off x="23863300" y="906463"/>
            <a:ext cx="520700" cy="1054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pPr marL="0" marR="0" lvl="0" indent="0" algn="r" defTabSz="1087437" rtl="0" eaLnBrk="1" fontAlgn="auto" latinLnBrk="0" hangingPunct="0">
              <a:lnSpc>
                <a:spcPct val="93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6900" b="0" i="0" u="none" strike="noStrike" kern="0" cap="none" spc="0" normalizeH="0" baseline="0" noProof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Radikal WUT"/>
                <a:sym typeface="Radikal WUT"/>
              </a:rPr>
              <a:pPr marL="0" marR="0" lvl="0" indent="0" algn="r" defTabSz="1087437" rtl="0" eaLnBrk="1" fontAlgn="auto" latinLnBrk="0" hangingPunct="0">
                <a:lnSpc>
                  <a:spcPct val="93000"/>
                </a:lnSpc>
                <a:spcBef>
                  <a:spcPts val="4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sz="6900" b="0" i="0" u="none" strike="noStrike" kern="0" cap="none" spc="0" normalizeH="0" baseline="0" noProof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Radikal WUT"/>
              <a:sym typeface="Radikal WUT"/>
            </a:endParaRPr>
          </a:p>
        </p:txBody>
      </p:sp>
      <p:sp>
        <p:nvSpPr>
          <p:cNvPr id="82" name="Shape 82"/>
          <p:cNvSpPr/>
          <p:nvPr/>
        </p:nvSpPr>
        <p:spPr>
          <a:xfrm>
            <a:off x="1219202" y="945077"/>
            <a:ext cx="17348202" cy="10304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pPr>
              <a:defRPr sz="3500"/>
            </a:pPr>
            <a:r>
              <a:rPr lang="pl-PL" sz="7200" dirty="0"/>
              <a:t>Publikacja i repozytorium	</a:t>
            </a:r>
          </a:p>
        </p:txBody>
      </p:sp>
    </p:spTree>
    <p:extLst>
      <p:ext uri="{BB962C8B-B14F-4D97-AF65-F5344CB8AC3E}">
        <p14:creationId xmlns:p14="http://schemas.microsoft.com/office/powerpoint/2010/main" val="3940799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dissolv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>
            <a:spLocks noGrp="1"/>
          </p:cNvSpPr>
          <p:nvPr>
            <p:ph type="sldNum" sz="quarter" idx="4294967295"/>
          </p:nvPr>
        </p:nvSpPr>
        <p:spPr>
          <a:xfrm>
            <a:off x="23863300" y="906463"/>
            <a:ext cx="520700" cy="1054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pPr marL="0" marR="0" lvl="0" indent="0" algn="r" defTabSz="1087437" rtl="0" eaLnBrk="1" fontAlgn="auto" latinLnBrk="0" hangingPunct="0">
              <a:lnSpc>
                <a:spcPct val="93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6900" b="0" i="0" u="none" strike="noStrike" kern="0" cap="none" spc="0" normalizeH="0" baseline="0" noProof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Radikal WUT"/>
                <a:sym typeface="Radikal WUT"/>
              </a:rPr>
              <a:pPr marL="0" marR="0" lvl="0" indent="0" algn="r" defTabSz="1087437" rtl="0" eaLnBrk="1" fontAlgn="auto" latinLnBrk="0" hangingPunct="0">
                <a:lnSpc>
                  <a:spcPct val="93000"/>
                </a:lnSpc>
                <a:spcBef>
                  <a:spcPts val="4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sz="6900" b="0" i="0" u="none" strike="noStrike" kern="0" cap="none" spc="0" normalizeH="0" baseline="0" noProof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Radikal WUT"/>
              <a:sym typeface="Radikal WUT"/>
            </a:endParaRPr>
          </a:p>
        </p:txBody>
      </p:sp>
      <p:sp>
        <p:nvSpPr>
          <p:cNvPr id="82" name="Shape 82"/>
          <p:cNvSpPr/>
          <p:nvPr/>
        </p:nvSpPr>
        <p:spPr>
          <a:xfrm>
            <a:off x="1266824" y="898525"/>
            <a:ext cx="17348202" cy="10304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pPr lvl="0">
              <a:defRPr sz="3500"/>
            </a:pPr>
            <a:r>
              <a:rPr lang="pl-PL" sz="7200" dirty="0"/>
              <a:t>Przykładowe zastosowania</a:t>
            </a:r>
            <a:endParaRPr kumimoji="0" lang="pl-PL" sz="7200" b="0" i="0" u="none" strike="noStrike" kern="0" cap="none" spc="0" normalizeH="0" baseline="0" noProof="0" dirty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Adagio_Slab"/>
              <a:sym typeface="Adagio_Slab"/>
            </a:endParaRPr>
          </a:p>
        </p:txBody>
      </p:sp>
      <p:grpSp>
        <p:nvGrpSpPr>
          <p:cNvPr id="21" name="Grupa 20">
            <a:extLst>
              <a:ext uri="{FF2B5EF4-FFF2-40B4-BE49-F238E27FC236}">
                <a16:creationId xmlns:a16="http://schemas.microsoft.com/office/drawing/2014/main" id="{74EC9AD1-5432-8B5E-C5D7-D1D91DBC1B86}"/>
              </a:ext>
            </a:extLst>
          </p:cNvPr>
          <p:cNvGrpSpPr/>
          <p:nvPr/>
        </p:nvGrpSpPr>
        <p:grpSpPr>
          <a:xfrm>
            <a:off x="1266824" y="3112442"/>
            <a:ext cx="21850351" cy="7491115"/>
            <a:chOff x="1266824" y="2493818"/>
            <a:chExt cx="21850351" cy="7491115"/>
          </a:xfrm>
        </p:grpSpPr>
        <p:sp>
          <p:nvSpPr>
            <p:cNvPr id="3" name="Prostokąt zaokrąglony 2">
              <a:extLst>
                <a:ext uri="{FF2B5EF4-FFF2-40B4-BE49-F238E27FC236}">
                  <a16:creationId xmlns:a16="http://schemas.microsoft.com/office/drawing/2014/main" id="{B31AEE6F-FDEA-9326-02BC-D612960E2D76}"/>
                </a:ext>
              </a:extLst>
            </p:cNvPr>
            <p:cNvSpPr/>
            <p:nvPr/>
          </p:nvSpPr>
          <p:spPr>
            <a:xfrm>
              <a:off x="8645236" y="2493818"/>
              <a:ext cx="7093527" cy="7398000"/>
            </a:xfrm>
            <a:prstGeom prst="roundRect">
              <a:avLst/>
            </a:prstGeom>
            <a:solidFill>
              <a:srgbClr val="96BCFF">
                <a:alpha val="25098"/>
              </a:srgbClr>
            </a:solidFill>
            <a:ln w="25400" cap="flat">
              <a:solidFill>
                <a:srgbClr val="7896C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110709" tIns="110709" rIns="110709" bIns="110709" numCol="1" spcCol="38100" rtlCol="0" anchor="t">
              <a:spAutoFit/>
            </a:bodyPr>
            <a:lstStyle/>
            <a:p>
              <a:pPr marL="0" marR="0" indent="0" algn="l" defTabSz="1087437" rtl="0" fontAlgn="auto" latinLnBrk="0" hangingPunct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pl-PL" sz="4000" b="0" i="0" u="none" strike="noStrike" cap="none" spc="0" normalizeH="0" baseline="0">
                <a:ln>
                  <a:noFill/>
                </a:ln>
                <a:solidFill>
                  <a:srgbClr val="6ABA9C"/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endParaRPr>
            </a:p>
          </p:txBody>
        </p:sp>
        <p:sp>
          <p:nvSpPr>
            <p:cNvPr id="4" name="Prostokąt zaokrąglony 3">
              <a:extLst>
                <a:ext uri="{FF2B5EF4-FFF2-40B4-BE49-F238E27FC236}">
                  <a16:creationId xmlns:a16="http://schemas.microsoft.com/office/drawing/2014/main" id="{A02BF6C3-F94C-4751-8070-A4B50F04B30A}"/>
                </a:ext>
              </a:extLst>
            </p:cNvPr>
            <p:cNvSpPr/>
            <p:nvPr/>
          </p:nvSpPr>
          <p:spPr>
            <a:xfrm>
              <a:off x="16023648" y="2493818"/>
              <a:ext cx="7093527" cy="7398000"/>
            </a:xfrm>
            <a:prstGeom prst="roundRect">
              <a:avLst/>
            </a:prstGeom>
            <a:solidFill>
              <a:srgbClr val="E6EFFF"/>
            </a:solidFill>
            <a:ln w="25400" cap="flat">
              <a:solidFill>
                <a:srgbClr val="7896C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110709" tIns="110709" rIns="110709" bIns="110709" numCol="1" spcCol="38100" rtlCol="0" anchor="t">
              <a:spAutoFit/>
            </a:bodyPr>
            <a:lstStyle/>
            <a:p>
              <a:pPr marL="0" marR="0" indent="0" algn="l" defTabSz="1087437" rtl="0" fontAlgn="auto" latinLnBrk="0" hangingPunct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pl-PL" sz="4000" b="0" i="0" u="none" strike="noStrike" cap="none" spc="0" normalizeH="0" baseline="0">
                <a:ln>
                  <a:noFill/>
                </a:ln>
                <a:solidFill>
                  <a:srgbClr val="6ABA9C"/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endParaRPr>
            </a:p>
          </p:txBody>
        </p:sp>
        <p:sp>
          <p:nvSpPr>
            <p:cNvPr id="9" name="Prostokąt zaokrąglony 8">
              <a:extLst>
                <a:ext uri="{FF2B5EF4-FFF2-40B4-BE49-F238E27FC236}">
                  <a16:creationId xmlns:a16="http://schemas.microsoft.com/office/drawing/2014/main" id="{D97D9725-2FA3-E80B-EA8D-8A507D4CD3DA}"/>
                </a:ext>
              </a:extLst>
            </p:cNvPr>
            <p:cNvSpPr/>
            <p:nvPr/>
          </p:nvSpPr>
          <p:spPr>
            <a:xfrm>
              <a:off x="1266824" y="2493818"/>
              <a:ext cx="7093527" cy="7398000"/>
            </a:xfrm>
            <a:prstGeom prst="roundRect">
              <a:avLst/>
            </a:prstGeom>
            <a:solidFill>
              <a:srgbClr val="96BCFF">
                <a:alpha val="25098"/>
              </a:srgbClr>
            </a:solidFill>
            <a:ln w="25400" cap="flat">
              <a:solidFill>
                <a:srgbClr val="7896C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110709" tIns="110709" rIns="110709" bIns="110709" numCol="1" spcCol="38100" rtlCol="0" anchor="t">
              <a:spAutoFit/>
            </a:bodyPr>
            <a:lstStyle/>
            <a:p>
              <a:pPr marL="0" marR="0" indent="0" algn="l" defTabSz="1087437" rtl="0" fontAlgn="auto" latinLnBrk="0" hangingPunct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pl-PL" sz="4000" b="0" i="0" u="none" strike="noStrike" cap="none" spc="0" normalizeH="0" baseline="0">
                <a:ln>
                  <a:noFill/>
                </a:ln>
                <a:solidFill>
                  <a:srgbClr val="6ABA9C"/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endParaRPr>
            </a:p>
          </p:txBody>
        </p:sp>
        <p:sp>
          <p:nvSpPr>
            <p:cNvPr id="10" name="Shape 81">
              <a:extLst>
                <a:ext uri="{FF2B5EF4-FFF2-40B4-BE49-F238E27FC236}">
                  <a16:creationId xmlns:a16="http://schemas.microsoft.com/office/drawing/2014/main" id="{AE1EC33F-FDFA-6504-9721-886F4D4C985D}"/>
                </a:ext>
              </a:extLst>
            </p:cNvPr>
            <p:cNvSpPr txBox="1">
              <a:spLocks/>
            </p:cNvSpPr>
            <p:nvPr/>
          </p:nvSpPr>
          <p:spPr>
            <a:xfrm>
              <a:off x="2339487" y="2923309"/>
              <a:ext cx="4940546" cy="81049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lIns="0" tIns="0" rIns="0" bIns="0">
              <a:normAutofit/>
            </a:bodyPr>
            <a:lstStyle>
              <a:lvl1pPr marL="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1pPr>
              <a:lvl2pPr marL="681566" marR="0" indent="-338666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2pPr>
              <a:lvl3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3pPr>
              <a:lvl4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4pPr>
              <a:lvl5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5pPr>
              <a:lvl6pPr marL="8001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6pPr>
              <a:lvl7pPr marL="12573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7pPr>
              <a:lvl8pPr marL="17145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8pPr>
              <a:lvl9pPr marL="21717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9pPr>
            </a:lstStyle>
            <a:p>
              <a:pPr hangingPunct="1">
                <a:defRPr sz="3500" i="1">
                  <a:solidFill>
                    <a:srgbClr val="7896CF"/>
                  </a:solidFill>
                  <a:latin typeface="Adagio_Slab-Regular_italic"/>
                  <a:ea typeface="Adagio_Slab-Regular_italic"/>
                  <a:cs typeface="Adagio_Slab-Regular_italic"/>
                  <a:sym typeface="Adagio_Slab-Regular_italic"/>
                </a:defRPr>
              </a:pPr>
              <a:r>
                <a:rPr lang="pl-PL" sz="3600" b="1" dirty="0">
                  <a:solidFill>
                    <a:schemeClr val="tx2"/>
                  </a:solidFill>
                  <a:sym typeface="Adagio_Slab-Regular_italic"/>
                </a:rPr>
                <a:t>Zautomatyzowana edycja</a:t>
              </a:r>
            </a:p>
          </p:txBody>
        </p:sp>
        <p:sp>
          <p:nvSpPr>
            <p:cNvPr id="11" name="Shape 81">
              <a:extLst>
                <a:ext uri="{FF2B5EF4-FFF2-40B4-BE49-F238E27FC236}">
                  <a16:creationId xmlns:a16="http://schemas.microsoft.com/office/drawing/2014/main" id="{6EA090B6-6AF6-33D9-9ED9-92934E95FFE1}"/>
                </a:ext>
              </a:extLst>
            </p:cNvPr>
            <p:cNvSpPr txBox="1">
              <a:spLocks/>
            </p:cNvSpPr>
            <p:nvPr/>
          </p:nvSpPr>
          <p:spPr>
            <a:xfrm>
              <a:off x="9721725" y="2923309"/>
              <a:ext cx="4940546" cy="81049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lIns="0" tIns="0" rIns="0" bIns="0">
              <a:normAutofit/>
            </a:bodyPr>
            <a:lstStyle>
              <a:lvl1pPr marL="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1pPr>
              <a:lvl2pPr marL="681566" marR="0" indent="-338666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2pPr>
              <a:lvl3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3pPr>
              <a:lvl4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4pPr>
              <a:lvl5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5pPr>
              <a:lvl6pPr marL="8001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6pPr>
              <a:lvl7pPr marL="12573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7pPr>
              <a:lvl8pPr marL="17145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8pPr>
              <a:lvl9pPr marL="21717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9pPr>
            </a:lstStyle>
            <a:p>
              <a:r>
                <a:rPr lang="pl-PL" sz="3600" b="1" dirty="0"/>
                <a:t>Generowanie warunkowe</a:t>
              </a:r>
            </a:p>
          </p:txBody>
        </p:sp>
        <p:sp>
          <p:nvSpPr>
            <p:cNvPr id="12" name="Shape 81">
              <a:extLst>
                <a:ext uri="{FF2B5EF4-FFF2-40B4-BE49-F238E27FC236}">
                  <a16:creationId xmlns:a16="http://schemas.microsoft.com/office/drawing/2014/main" id="{9EFA4BBB-1B34-DBD7-6486-2FC79A7ED7D5}"/>
                </a:ext>
              </a:extLst>
            </p:cNvPr>
            <p:cNvSpPr txBox="1">
              <a:spLocks/>
            </p:cNvSpPr>
            <p:nvPr/>
          </p:nvSpPr>
          <p:spPr>
            <a:xfrm>
              <a:off x="17103967" y="2923309"/>
              <a:ext cx="4940546" cy="81049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lIns="0" tIns="0" rIns="0" bIns="0">
              <a:normAutofit/>
            </a:bodyPr>
            <a:lstStyle>
              <a:lvl1pPr marL="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1pPr>
              <a:lvl2pPr marL="681566" marR="0" indent="-338666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2pPr>
              <a:lvl3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3pPr>
              <a:lvl4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4pPr>
              <a:lvl5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5pPr>
              <a:lvl6pPr marL="8001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6pPr>
              <a:lvl7pPr marL="12573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7pPr>
              <a:lvl8pPr marL="17145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8pPr>
              <a:lvl9pPr marL="21717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9pPr>
            </a:lstStyle>
            <a:p>
              <a:pPr hangingPunct="1">
                <a:defRPr sz="3500" i="1">
                  <a:solidFill>
                    <a:srgbClr val="7896CF"/>
                  </a:solidFill>
                  <a:latin typeface="Adagio_Slab-Regular_italic"/>
                  <a:ea typeface="Adagio_Slab-Regular_italic"/>
                  <a:cs typeface="Adagio_Slab-Regular_italic"/>
                  <a:sym typeface="Adagio_Slab-Regular_italic"/>
                </a:defRPr>
              </a:pPr>
              <a:r>
                <a:rPr lang="pl-PL" sz="3600" b="1" dirty="0">
                  <a:solidFill>
                    <a:schemeClr val="tx2"/>
                  </a:solidFill>
                  <a:sym typeface="Adagio_Slab-Regular_italic"/>
                </a:rPr>
                <a:t>Złożone zapytania (REC)</a:t>
              </a:r>
            </a:p>
          </p:txBody>
        </p:sp>
        <p:sp>
          <p:nvSpPr>
            <p:cNvPr id="13" name="Shape 81">
              <a:extLst>
                <a:ext uri="{FF2B5EF4-FFF2-40B4-BE49-F238E27FC236}">
                  <a16:creationId xmlns:a16="http://schemas.microsoft.com/office/drawing/2014/main" id="{0D196234-7076-D379-8585-98889299AF30}"/>
                </a:ext>
              </a:extLst>
            </p:cNvPr>
            <p:cNvSpPr txBox="1">
              <a:spLocks/>
            </p:cNvSpPr>
            <p:nvPr/>
          </p:nvSpPr>
          <p:spPr>
            <a:xfrm>
              <a:off x="1520460" y="7514205"/>
              <a:ext cx="6578600" cy="24707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lIns="0" tIns="0" rIns="0" bIns="0">
              <a:normAutofit/>
            </a:bodyPr>
            <a:lstStyle>
              <a:lvl1pPr marL="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1pPr>
              <a:lvl2pPr marL="681566" marR="0" indent="-338666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2pPr>
              <a:lvl3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3pPr>
              <a:lvl4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4pPr>
              <a:lvl5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5pPr>
              <a:lvl6pPr marL="8001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6pPr>
              <a:lvl7pPr marL="12573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7pPr>
              <a:lvl8pPr marL="17145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8pPr>
              <a:lvl9pPr marL="21717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9pPr>
            </a:lstStyle>
            <a:p>
              <a:pPr hangingPunct="1">
                <a:defRPr sz="3500" i="1">
                  <a:solidFill>
                    <a:srgbClr val="7896CF"/>
                  </a:solidFill>
                  <a:latin typeface="Adagio_Slab-Regular_italic"/>
                  <a:ea typeface="Adagio_Slab-Regular_italic"/>
                  <a:cs typeface="Adagio_Slab-Regular_italic"/>
                  <a:sym typeface="Adagio_Slab-Regular_italic"/>
                </a:defRPr>
              </a:pPr>
              <a:endParaRPr lang="pl-PL" sz="2000" i="1" dirty="0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endParaRPr>
            </a:p>
            <a:p>
              <a:pPr hangingPunct="1">
                <a:defRPr sz="3500" i="1">
                  <a:solidFill>
                    <a:srgbClr val="7896CF"/>
                  </a:solidFill>
                  <a:latin typeface="Adagio_Slab-Regular_italic"/>
                  <a:ea typeface="Adagio_Slab-Regular_italic"/>
                  <a:cs typeface="Adagio_Slab-Regular_italic"/>
                  <a:sym typeface="Adagio_Slab-Regular_italic"/>
                </a:defRPr>
              </a:pPr>
              <a:r>
                <a:rPr lang="pl-PL" sz="2800" i="1" dirty="0">
                  <a:solidFill>
                    <a:schemeClr val="tx2"/>
                  </a:solidFill>
                </a:rPr>
                <a:t>Automatyczne wycinanie obiektów tekstem i generowanie masek dla modeli edycyjnych (np. </a:t>
              </a:r>
              <a:r>
                <a:rPr lang="pl-PL" sz="2800" i="1" dirty="0" err="1">
                  <a:solidFill>
                    <a:schemeClr val="tx2"/>
                  </a:solidFill>
                </a:rPr>
                <a:t>Stable</a:t>
              </a:r>
              <a:r>
                <a:rPr lang="pl-PL" sz="2800" i="1" dirty="0">
                  <a:solidFill>
                    <a:schemeClr val="tx2"/>
                  </a:solidFill>
                </a:rPr>
                <a:t> </a:t>
              </a:r>
              <a:r>
                <a:rPr lang="pl-PL" sz="2800" i="1" dirty="0" err="1">
                  <a:solidFill>
                    <a:schemeClr val="tx2"/>
                  </a:solidFill>
                </a:rPr>
                <a:t>Diffusion</a:t>
              </a:r>
              <a:r>
                <a:rPr lang="pl-PL" sz="2800" i="1" dirty="0">
                  <a:solidFill>
                    <a:schemeClr val="tx2"/>
                  </a:solidFill>
                </a:rPr>
                <a:t>).</a:t>
              </a:r>
              <a:endParaRPr lang="pl-PL" sz="2800" dirty="0">
                <a:solidFill>
                  <a:schemeClr val="tx2"/>
                </a:solidFill>
              </a:endParaRPr>
            </a:p>
            <a:p>
              <a:pPr hangingPunct="1">
                <a:defRPr sz="3500"/>
              </a:pPr>
              <a:endParaRPr lang="pl-PL" sz="2000" dirty="0"/>
            </a:p>
          </p:txBody>
        </p:sp>
        <p:sp>
          <p:nvSpPr>
            <p:cNvPr id="15" name="Shape 81">
              <a:extLst>
                <a:ext uri="{FF2B5EF4-FFF2-40B4-BE49-F238E27FC236}">
                  <a16:creationId xmlns:a16="http://schemas.microsoft.com/office/drawing/2014/main" id="{CB1167C1-042F-7AD1-6DEB-63CF87C26D35}"/>
                </a:ext>
              </a:extLst>
            </p:cNvPr>
            <p:cNvSpPr txBox="1">
              <a:spLocks/>
            </p:cNvSpPr>
            <p:nvPr/>
          </p:nvSpPr>
          <p:spPr>
            <a:xfrm>
              <a:off x="8902698" y="7514205"/>
              <a:ext cx="6578600" cy="24707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lIns="0" tIns="0" rIns="0" bIns="0">
              <a:normAutofit/>
            </a:bodyPr>
            <a:lstStyle>
              <a:lvl1pPr marL="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1pPr>
              <a:lvl2pPr marL="681566" marR="0" indent="-338666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2pPr>
              <a:lvl3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3pPr>
              <a:lvl4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4pPr>
              <a:lvl5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5pPr>
              <a:lvl6pPr marL="8001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6pPr>
              <a:lvl7pPr marL="12573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7pPr>
              <a:lvl8pPr marL="17145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8pPr>
              <a:lvl9pPr marL="21717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9pPr>
            </a:lstStyle>
            <a:p>
              <a:pPr hangingPunct="1">
                <a:defRPr sz="3500" i="1">
                  <a:solidFill>
                    <a:srgbClr val="7896CF"/>
                  </a:solidFill>
                  <a:latin typeface="Adagio_Slab-Regular_italic"/>
                  <a:ea typeface="Adagio_Slab-Regular_italic"/>
                  <a:cs typeface="Adagio_Slab-Regular_italic"/>
                  <a:sym typeface="Adagio_Slab-Regular_italic"/>
                </a:defRPr>
              </a:pPr>
              <a:endParaRPr lang="pl-PL" sz="2000" i="1" dirty="0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endParaRPr>
            </a:p>
            <a:p>
              <a:pPr hangingPunct="1">
                <a:defRPr sz="3500" i="1">
                  <a:solidFill>
                    <a:srgbClr val="7896CF"/>
                  </a:solidFill>
                  <a:latin typeface="Adagio_Slab-Regular_italic"/>
                  <a:ea typeface="Adagio_Slab-Regular_italic"/>
                  <a:cs typeface="Adagio_Slab-Regular_italic"/>
                  <a:sym typeface="Adagio_Slab-Regular_italic"/>
                </a:defRPr>
              </a:pPr>
              <a:r>
                <a:rPr lang="pl-PL" sz="2800" i="1" dirty="0">
                  <a:solidFill>
                    <a:schemeClr val="tx2"/>
                  </a:solidFill>
                  <a:sym typeface="Adagio_Slab-Regular_italic"/>
                </a:rPr>
                <a:t>Precyzyjne rozmieszczanie nowych obiektów w ściśle wyznaczonych ramkach kadru (współpraca z GLIGEN).</a:t>
              </a:r>
              <a:endParaRPr lang="pl-PL" sz="2800" dirty="0">
                <a:solidFill>
                  <a:schemeClr val="tx2"/>
                </a:solidFill>
              </a:endParaRPr>
            </a:p>
          </p:txBody>
        </p:sp>
        <p:sp>
          <p:nvSpPr>
            <p:cNvPr id="17" name="Shape 81">
              <a:extLst>
                <a:ext uri="{FF2B5EF4-FFF2-40B4-BE49-F238E27FC236}">
                  <a16:creationId xmlns:a16="http://schemas.microsoft.com/office/drawing/2014/main" id="{2271F778-94CE-0181-7870-6E383CC0335F}"/>
                </a:ext>
              </a:extLst>
            </p:cNvPr>
            <p:cNvSpPr txBox="1">
              <a:spLocks/>
            </p:cNvSpPr>
            <p:nvPr/>
          </p:nvSpPr>
          <p:spPr>
            <a:xfrm>
              <a:off x="16284940" y="7514205"/>
              <a:ext cx="6578600" cy="24707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lIns="0" tIns="0" rIns="0" bIns="0">
              <a:normAutofit/>
            </a:bodyPr>
            <a:lstStyle>
              <a:lvl1pPr marL="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1pPr>
              <a:lvl2pPr marL="681566" marR="0" indent="-338666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2pPr>
              <a:lvl3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3pPr>
              <a:lvl4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4pPr>
              <a:lvl5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5pPr>
              <a:lvl6pPr marL="8001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6pPr>
              <a:lvl7pPr marL="12573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7pPr>
              <a:lvl8pPr marL="17145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8pPr>
              <a:lvl9pPr marL="21717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9pPr>
            </a:lstStyle>
            <a:p>
              <a:pPr hangingPunct="1">
                <a:defRPr sz="3500" i="1">
                  <a:solidFill>
                    <a:srgbClr val="7896CF"/>
                  </a:solidFill>
                  <a:latin typeface="Adagio_Slab-Regular_italic"/>
                  <a:ea typeface="Adagio_Slab-Regular_italic"/>
                  <a:cs typeface="Adagio_Slab-Regular_italic"/>
                  <a:sym typeface="Adagio_Slab-Regular_italic"/>
                </a:defRPr>
              </a:pPr>
              <a:endParaRPr lang="pl-PL" sz="2000" i="1" dirty="0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endParaRPr>
            </a:p>
            <a:p>
              <a:r>
                <a:rPr lang="pl-PL" sz="2800" i="1" dirty="0"/>
                <a:t>Lokalizacja obiektów na podstawie złożonych opisów i relacji przestrzennych (</a:t>
              </a:r>
              <a:r>
                <a:rPr lang="pl-PL" sz="2800" i="1" dirty="0" err="1"/>
                <a:t>Referring</a:t>
              </a:r>
              <a:r>
                <a:rPr lang="pl-PL" sz="2800" i="1" dirty="0"/>
                <a:t> </a:t>
              </a:r>
              <a:r>
                <a:rPr lang="pl-PL" sz="2800" i="1" dirty="0" err="1"/>
                <a:t>Expression</a:t>
              </a:r>
              <a:r>
                <a:rPr lang="pl-PL" sz="2800" i="1" dirty="0"/>
                <a:t> </a:t>
              </a:r>
              <a:r>
                <a:rPr lang="pl-PL" sz="2800" i="1" dirty="0" err="1"/>
                <a:t>Comprehension</a:t>
              </a:r>
              <a:r>
                <a:rPr lang="pl-PL" sz="2800" i="1" dirty="0"/>
                <a:t>).</a:t>
              </a:r>
              <a:endParaRPr lang="pl-PL" sz="2800" dirty="0"/>
            </a:p>
          </p:txBody>
        </p:sp>
        <p:pic>
          <p:nvPicPr>
            <p:cNvPr id="19" name="Obraz 18">
              <a:extLst>
                <a:ext uri="{FF2B5EF4-FFF2-40B4-BE49-F238E27FC236}">
                  <a16:creationId xmlns:a16="http://schemas.microsoft.com/office/drawing/2014/main" id="{87C46BED-21AE-791F-28AA-97507E8D0E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50741" y="4034772"/>
              <a:ext cx="6918038" cy="3178463"/>
            </a:xfrm>
            <a:prstGeom prst="rect">
              <a:avLst/>
            </a:prstGeom>
          </p:spPr>
        </p:pic>
        <p:pic>
          <p:nvPicPr>
            <p:cNvPr id="20" name="Obraz 19">
              <a:extLst>
                <a:ext uri="{FF2B5EF4-FFF2-40B4-BE49-F238E27FC236}">
                  <a16:creationId xmlns:a16="http://schemas.microsoft.com/office/drawing/2014/main" id="{A0135331-B5C5-01EE-E24E-B76C8BE931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902698" y="4256812"/>
              <a:ext cx="6578600" cy="2734381"/>
            </a:xfrm>
            <a:prstGeom prst="rect">
              <a:avLst/>
            </a:prstGeom>
          </p:spPr>
        </p:pic>
      </p:grpSp>
      <p:pic>
        <p:nvPicPr>
          <p:cNvPr id="22" name="Obraz 21">
            <a:extLst>
              <a:ext uri="{FF2B5EF4-FFF2-40B4-BE49-F238E27FC236}">
                <a16:creationId xmlns:a16="http://schemas.microsoft.com/office/drawing/2014/main" id="{D320ABDA-2AF9-25AA-2796-47CEBEE8A6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05012" y="4352425"/>
            <a:ext cx="5130798" cy="3978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568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dissolv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>
            <a:spLocks noGrp="1"/>
          </p:cNvSpPr>
          <p:nvPr>
            <p:ph type="sldNum" sz="quarter" idx="4294967295"/>
          </p:nvPr>
        </p:nvSpPr>
        <p:spPr>
          <a:xfrm>
            <a:off x="23863300" y="906463"/>
            <a:ext cx="520700" cy="1054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pPr marL="0" marR="0" lvl="0" indent="0" algn="r" defTabSz="1087437" rtl="0" eaLnBrk="1" fontAlgn="auto" latinLnBrk="0" hangingPunct="0">
              <a:lnSpc>
                <a:spcPct val="93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6900" b="0" i="0" u="none" strike="noStrike" kern="0" cap="none" spc="0" normalizeH="0" baseline="0" noProof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Radikal WUT"/>
                <a:sym typeface="Radikal WUT"/>
              </a:rPr>
              <a:pPr marL="0" marR="0" lvl="0" indent="0" algn="r" defTabSz="1087437" rtl="0" eaLnBrk="1" fontAlgn="auto" latinLnBrk="0" hangingPunct="0">
                <a:lnSpc>
                  <a:spcPct val="93000"/>
                </a:lnSpc>
                <a:spcBef>
                  <a:spcPts val="4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sz="6900" b="0" i="0" u="none" strike="noStrike" kern="0" cap="none" spc="0" normalizeH="0" baseline="0" noProof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Radikal WUT"/>
              <a:sym typeface="Radikal WUT"/>
            </a:endParaRPr>
          </a:p>
        </p:txBody>
      </p:sp>
      <p:sp>
        <p:nvSpPr>
          <p:cNvPr id="82" name="Shape 82"/>
          <p:cNvSpPr/>
          <p:nvPr/>
        </p:nvSpPr>
        <p:spPr>
          <a:xfrm>
            <a:off x="1266824" y="898525"/>
            <a:ext cx="17348202" cy="10304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pPr lvl="0">
              <a:defRPr sz="3500"/>
            </a:pPr>
            <a:r>
              <a:rPr lang="pl-PL" sz="7200" dirty="0"/>
              <a:t>Planowany kierunek projektu</a:t>
            </a:r>
            <a:endParaRPr kumimoji="0" lang="pl-PL" sz="7200" b="0" i="0" u="none" strike="noStrike" kern="0" cap="none" spc="0" normalizeH="0" baseline="0" noProof="0" dirty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Adagio_Slab"/>
              <a:sym typeface="Adagio_Slab"/>
            </a:endParaRPr>
          </a:p>
        </p:txBody>
      </p:sp>
      <p:sp>
        <p:nvSpPr>
          <p:cNvPr id="2" name="Prostokąt zaokrąglony 1">
            <a:extLst>
              <a:ext uri="{FF2B5EF4-FFF2-40B4-BE49-F238E27FC236}">
                <a16:creationId xmlns:a16="http://schemas.microsoft.com/office/drawing/2014/main" id="{C37225EB-8457-CFA8-BC0F-343895BC1524}"/>
              </a:ext>
            </a:extLst>
          </p:cNvPr>
          <p:cNvSpPr/>
          <p:nvPr/>
        </p:nvSpPr>
        <p:spPr>
          <a:xfrm>
            <a:off x="9755781" y="4053125"/>
            <a:ext cx="3600000" cy="1107175"/>
          </a:xfrm>
          <a:prstGeom prst="roundRect">
            <a:avLst/>
          </a:prstGeom>
          <a:solidFill>
            <a:srgbClr val="96BCFF">
              <a:alpha val="54902"/>
            </a:srgbClr>
          </a:solidFill>
          <a:ln w="25400" cap="flat">
            <a:solidFill>
              <a:srgbClr val="96BC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10709" tIns="110709" rIns="110709" bIns="110709" numCol="1" spcCol="38100" rtlCol="0" anchor="t">
            <a:spAutoFit/>
          </a:bodyPr>
          <a:lstStyle/>
          <a:p>
            <a:pPr marL="0" marR="0" indent="0" algn="ctr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pl-PL" sz="4000" b="0" i="0" u="none" strike="noStrike" cap="none" spc="0" normalizeH="0" baseline="0" dirty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Times New Roman"/>
              </a:rPr>
              <a:t>dog.</a:t>
            </a:r>
          </a:p>
        </p:txBody>
      </p:sp>
      <p:sp>
        <p:nvSpPr>
          <p:cNvPr id="10" name="Prostokąt zaokrąglony 9">
            <a:extLst>
              <a:ext uri="{FF2B5EF4-FFF2-40B4-BE49-F238E27FC236}">
                <a16:creationId xmlns:a16="http://schemas.microsoft.com/office/drawing/2014/main" id="{67417B92-3D09-3266-AC65-CFB657325894}"/>
              </a:ext>
            </a:extLst>
          </p:cNvPr>
          <p:cNvSpPr/>
          <p:nvPr/>
        </p:nvSpPr>
        <p:spPr>
          <a:xfrm>
            <a:off x="9755781" y="6304410"/>
            <a:ext cx="3600000" cy="1107175"/>
          </a:xfrm>
          <a:prstGeom prst="roundRect">
            <a:avLst/>
          </a:prstGeom>
          <a:solidFill>
            <a:srgbClr val="96BCFF">
              <a:alpha val="54902"/>
            </a:srgbClr>
          </a:solidFill>
          <a:ln w="25400" cap="flat">
            <a:solidFill>
              <a:srgbClr val="96BC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10709" tIns="110709" rIns="110709" bIns="110709" numCol="1" spcCol="38100" rtlCol="0" anchor="t">
            <a:spAutoFit/>
          </a:bodyPr>
          <a:lstStyle/>
          <a:p>
            <a:pPr marL="0" marR="0" indent="0" algn="ctr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l-PL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kumimoji="0" lang="pl-PL" sz="4000" b="0" i="0" u="none" strike="noStrike" cap="none" spc="0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Times New Roman"/>
              </a:rPr>
              <a:t>uppy</a:t>
            </a:r>
            <a:r>
              <a:rPr kumimoji="0" lang="pl-PL" sz="4000" b="0" i="0" u="none" strike="noStrike" cap="none" spc="0" normalizeH="0" baseline="0" dirty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Times New Roman"/>
              </a:rPr>
              <a:t>.</a:t>
            </a:r>
          </a:p>
        </p:txBody>
      </p:sp>
      <p:sp>
        <p:nvSpPr>
          <p:cNvPr id="11" name="Prostokąt zaokrąglony 10">
            <a:extLst>
              <a:ext uri="{FF2B5EF4-FFF2-40B4-BE49-F238E27FC236}">
                <a16:creationId xmlns:a16="http://schemas.microsoft.com/office/drawing/2014/main" id="{0E7023F7-BF17-BCDF-83B3-002B2A87B0C4}"/>
              </a:ext>
            </a:extLst>
          </p:cNvPr>
          <p:cNvSpPr/>
          <p:nvPr/>
        </p:nvSpPr>
        <p:spPr>
          <a:xfrm>
            <a:off x="9755781" y="8555695"/>
            <a:ext cx="3600000" cy="1148038"/>
          </a:xfrm>
          <a:prstGeom prst="roundRect">
            <a:avLst/>
          </a:prstGeom>
          <a:solidFill>
            <a:srgbClr val="96BCFF">
              <a:alpha val="54902"/>
            </a:srgbClr>
          </a:solidFill>
          <a:ln w="25400" cap="flat">
            <a:solidFill>
              <a:srgbClr val="96BC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10709" tIns="110709" rIns="110709" bIns="110709" numCol="1" spcCol="38100" rtlCol="0" anchor="t">
            <a:spAutoFit/>
          </a:bodyPr>
          <a:lstStyle/>
          <a:p>
            <a:r>
              <a:rPr lang="pl-PL" sz="21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 small </a:t>
            </a:r>
            <a:r>
              <a:rPr lang="pl-PL" sz="21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white</a:t>
            </a:r>
            <a:r>
              <a:rPr lang="pl-PL" sz="21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sz="21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animal</a:t>
            </a:r>
            <a:r>
              <a:rPr lang="pl-PL" sz="21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sz="21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running</a:t>
            </a:r>
            <a:r>
              <a:rPr lang="pl-PL" sz="21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on </a:t>
            </a:r>
            <a:r>
              <a:rPr lang="pl-PL" sz="21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grass</a:t>
            </a:r>
            <a:r>
              <a:rPr lang="pl-PL" sz="21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endParaRPr kumimoji="0" lang="pl-PL" sz="2100" b="1" i="0" u="none" strike="noStrike" cap="none" spc="0" normalizeH="0" baseline="0" dirty="0">
              <a:ln>
                <a:noFill/>
              </a:ln>
              <a:solidFill>
                <a:schemeClr val="tx2"/>
              </a:solidFill>
              <a:effectLst/>
              <a:uFillTx/>
              <a:latin typeface="Courier New" panose="02070309020205020404" pitchFamily="49" charset="0"/>
              <a:cs typeface="Courier New" panose="02070309020205020404" pitchFamily="49" charset="0"/>
              <a:sym typeface="Times New Roman"/>
            </a:endParaRPr>
          </a:p>
        </p:txBody>
      </p:sp>
      <p:pic>
        <p:nvPicPr>
          <p:cNvPr id="13" name="Obraz 12">
            <a:extLst>
              <a:ext uri="{FF2B5EF4-FFF2-40B4-BE49-F238E27FC236}">
                <a16:creationId xmlns:a16="http://schemas.microsoft.com/office/drawing/2014/main" id="{2EACCD0B-9D3C-B69C-424C-1B6F6ACB9B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574" y="5029198"/>
            <a:ext cx="6502400" cy="3657600"/>
          </a:xfrm>
          <a:prstGeom prst="rect">
            <a:avLst/>
          </a:prstGeom>
        </p:spPr>
      </p:pic>
      <p:pic>
        <p:nvPicPr>
          <p:cNvPr id="16" name="Obraz 15">
            <a:extLst>
              <a:ext uri="{FF2B5EF4-FFF2-40B4-BE49-F238E27FC236}">
                <a16:creationId xmlns:a16="http://schemas.microsoft.com/office/drawing/2014/main" id="{363D9A43-DEB5-9F37-0FEB-3316A9412D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14589" y="4973780"/>
            <a:ext cx="6502400" cy="3657600"/>
          </a:xfrm>
          <a:prstGeom prst="rect">
            <a:avLst/>
          </a:prstGeom>
        </p:spPr>
      </p:pic>
      <p:cxnSp>
        <p:nvCxnSpPr>
          <p:cNvPr id="18" name="Łącznik łamany 17">
            <a:extLst>
              <a:ext uri="{FF2B5EF4-FFF2-40B4-BE49-F238E27FC236}">
                <a16:creationId xmlns:a16="http://schemas.microsoft.com/office/drawing/2014/main" id="{ED56E480-A16C-B8CB-C947-8B0EA34E73AD}"/>
              </a:ext>
            </a:extLst>
          </p:cNvPr>
          <p:cNvCxnSpPr>
            <a:cxnSpLocks/>
          </p:cNvCxnSpPr>
          <p:nvPr/>
        </p:nvCxnSpPr>
        <p:spPr>
          <a:xfrm>
            <a:off x="7196974" y="7706845"/>
            <a:ext cx="2558807" cy="1402437"/>
          </a:xfrm>
          <a:prstGeom prst="bentConnector3">
            <a:avLst>
              <a:gd name="adj1" fmla="val 50000"/>
            </a:avLst>
          </a:prstGeom>
          <a:ln w="38100" cap="flat" cmpd="sng" algn="ctr">
            <a:solidFill>
              <a:srgbClr val="7896C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Łącznik łamany 20">
            <a:extLst>
              <a:ext uri="{FF2B5EF4-FFF2-40B4-BE49-F238E27FC236}">
                <a16:creationId xmlns:a16="http://schemas.microsoft.com/office/drawing/2014/main" id="{575FB2E1-7ACE-B2CF-7F7D-4AE44F2D0047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7196974" y="4606713"/>
            <a:ext cx="2558807" cy="1402437"/>
          </a:xfrm>
          <a:prstGeom prst="bentConnector3">
            <a:avLst>
              <a:gd name="adj1" fmla="val 50000"/>
            </a:avLst>
          </a:prstGeom>
          <a:ln w="38100" cap="flat" cmpd="sng" algn="ctr">
            <a:solidFill>
              <a:srgbClr val="7896C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Łącznik prosty ze strzałką 27">
            <a:extLst>
              <a:ext uri="{FF2B5EF4-FFF2-40B4-BE49-F238E27FC236}">
                <a16:creationId xmlns:a16="http://schemas.microsoft.com/office/drawing/2014/main" id="{36044BCE-0449-8786-3F6E-367D8BC52D52}"/>
              </a:ext>
            </a:extLst>
          </p:cNvPr>
          <p:cNvCxnSpPr>
            <a:cxnSpLocks/>
            <a:stCxn id="13" idx="3"/>
            <a:endCxn id="10" idx="1"/>
          </p:cNvCxnSpPr>
          <p:nvPr/>
        </p:nvCxnSpPr>
        <p:spPr>
          <a:xfrm>
            <a:off x="7196974" y="6857998"/>
            <a:ext cx="2558807" cy="0"/>
          </a:xfrm>
          <a:prstGeom prst="straightConnector1">
            <a:avLst/>
          </a:prstGeom>
          <a:ln w="38100" cap="flat" cmpd="sng" algn="ctr">
            <a:solidFill>
              <a:srgbClr val="7896C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Łącznik łamany 35">
            <a:extLst>
              <a:ext uri="{FF2B5EF4-FFF2-40B4-BE49-F238E27FC236}">
                <a16:creationId xmlns:a16="http://schemas.microsoft.com/office/drawing/2014/main" id="{E0822010-43FB-0F1B-E53F-6D4322B49F61}"/>
              </a:ext>
            </a:extLst>
          </p:cNvPr>
          <p:cNvCxnSpPr>
            <a:stCxn id="2" idx="3"/>
          </p:cNvCxnSpPr>
          <p:nvPr/>
        </p:nvCxnSpPr>
        <p:spPr>
          <a:xfrm>
            <a:off x="13355781" y="4606713"/>
            <a:ext cx="2558808" cy="1404000"/>
          </a:xfrm>
          <a:prstGeom prst="bentConnector3">
            <a:avLst/>
          </a:prstGeom>
          <a:ln w="38100" cap="flat" cmpd="sng" algn="ctr">
            <a:solidFill>
              <a:srgbClr val="7896C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Łącznik prosty ze strzałką 38">
            <a:extLst>
              <a:ext uri="{FF2B5EF4-FFF2-40B4-BE49-F238E27FC236}">
                <a16:creationId xmlns:a16="http://schemas.microsoft.com/office/drawing/2014/main" id="{DCC7DC22-CBE5-1036-6D29-07F1FB9EE115}"/>
              </a:ext>
            </a:extLst>
          </p:cNvPr>
          <p:cNvCxnSpPr>
            <a:stCxn id="10" idx="3"/>
          </p:cNvCxnSpPr>
          <p:nvPr/>
        </p:nvCxnSpPr>
        <p:spPr>
          <a:xfrm>
            <a:off x="13355781" y="6857998"/>
            <a:ext cx="2558808" cy="2"/>
          </a:xfrm>
          <a:prstGeom prst="straightConnector1">
            <a:avLst/>
          </a:prstGeom>
          <a:ln w="38100" cap="flat" cmpd="sng" algn="ctr">
            <a:solidFill>
              <a:srgbClr val="7896C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Łącznik łamany 40">
            <a:extLst>
              <a:ext uri="{FF2B5EF4-FFF2-40B4-BE49-F238E27FC236}">
                <a16:creationId xmlns:a16="http://schemas.microsoft.com/office/drawing/2014/main" id="{87B186DD-8701-86A4-270B-702B26C5FA7B}"/>
              </a:ext>
            </a:extLst>
          </p:cNvPr>
          <p:cNvCxnSpPr>
            <a:stCxn id="11" idx="3"/>
          </p:cNvCxnSpPr>
          <p:nvPr/>
        </p:nvCxnSpPr>
        <p:spPr>
          <a:xfrm flipV="1">
            <a:off x="13355781" y="7705288"/>
            <a:ext cx="2558808" cy="1424426"/>
          </a:xfrm>
          <a:prstGeom prst="bentConnector3">
            <a:avLst/>
          </a:prstGeom>
          <a:ln w="38100" cap="flat" cmpd="sng" algn="ctr">
            <a:solidFill>
              <a:srgbClr val="7896C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7" name="pole tekstowe 36">
            <a:extLst>
              <a:ext uri="{FF2B5EF4-FFF2-40B4-BE49-F238E27FC236}">
                <a16:creationId xmlns:a16="http://schemas.microsoft.com/office/drawing/2014/main" id="{9D28459D-5968-DA76-DD55-7639A9A09866}"/>
              </a:ext>
            </a:extLst>
          </p:cNvPr>
          <p:cNvSpPr txBox="1"/>
          <p:nvPr/>
        </p:nvSpPr>
        <p:spPr>
          <a:xfrm>
            <a:off x="13177021" y="3839050"/>
            <a:ext cx="2902400" cy="66145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10709" tIns="110709" rIns="110709" bIns="110709" numCol="1" spcCol="38100" rtlCol="0" anchor="t">
            <a:spAutoFit/>
          </a:bodyPr>
          <a:lstStyle/>
          <a:p>
            <a:pPr marL="0" marR="0" indent="0" algn="l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l-PL" sz="34400" b="1" dirty="0">
                <a:solidFill>
                  <a:schemeClr val="tx2"/>
                </a:solidFill>
                <a:latin typeface="+mj-lt"/>
                <a:cs typeface="+mj-cs"/>
              </a:rPr>
              <a:t>?</a:t>
            </a:r>
            <a:endParaRPr kumimoji="0" lang="pl-PL" sz="11500" b="1" i="0" u="none" strike="noStrike" cap="none" spc="0" normalizeH="0" baseline="0" dirty="0">
              <a:ln>
                <a:noFill/>
              </a:ln>
              <a:solidFill>
                <a:schemeClr val="tx2"/>
              </a:solidFill>
              <a:effectLst/>
              <a:uFillTx/>
              <a:latin typeface="+mj-lt"/>
              <a:ea typeface="+mn-ea"/>
              <a:cs typeface="+mj-cs"/>
              <a:sym typeface="Times New Roman"/>
            </a:endParaRPr>
          </a:p>
        </p:txBody>
      </p:sp>
      <p:sp>
        <p:nvSpPr>
          <p:cNvPr id="44" name="Shape 81">
            <a:extLst>
              <a:ext uri="{FF2B5EF4-FFF2-40B4-BE49-F238E27FC236}">
                <a16:creationId xmlns:a16="http://schemas.microsoft.com/office/drawing/2014/main" id="{249D4157-2605-6DD8-3444-42DED84C27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6824" y="10592232"/>
            <a:ext cx="15875000" cy="1005489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sz="4400" b="1" dirty="0">
                <a:solidFill>
                  <a:schemeClr val="tx2"/>
                </a:solidFill>
              </a:rPr>
              <a:t>Dodatkowo</a:t>
            </a:r>
            <a:r>
              <a:rPr lang="pl-PL" sz="4400" dirty="0">
                <a:solidFill>
                  <a:schemeClr val="tx2"/>
                </a:solidFill>
              </a:rPr>
              <a:t>: próba fine-</a:t>
            </a:r>
            <a:r>
              <a:rPr lang="pl-PL" sz="4400" dirty="0" err="1">
                <a:solidFill>
                  <a:schemeClr val="tx2"/>
                </a:solidFill>
              </a:rPr>
              <a:t>tuningu</a:t>
            </a:r>
            <a:r>
              <a:rPr lang="pl-PL" sz="4400" dirty="0">
                <a:solidFill>
                  <a:schemeClr val="tx2"/>
                </a:solidFill>
              </a:rPr>
              <a:t> modelu na małym zbiorze danych</a:t>
            </a:r>
          </a:p>
        </p:txBody>
      </p:sp>
    </p:spTree>
    <p:extLst>
      <p:ext uri="{BB962C8B-B14F-4D97-AF65-F5344CB8AC3E}">
        <p14:creationId xmlns:p14="http://schemas.microsoft.com/office/powerpoint/2010/main" val="350473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dissolv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96C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2000" y="1157814"/>
            <a:ext cx="5080000" cy="11107766"/>
          </a:xfrm>
          <a:prstGeom prst="rect">
            <a:avLst/>
          </a:prstGeom>
          <a:ln w="12700">
            <a:miter lim="400000"/>
          </a:ln>
        </p:spPr>
      </p:pic>
      <p:pic>
        <p:nvPicPr>
          <p:cNvPr id="70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0" y="11059872"/>
            <a:ext cx="3429000" cy="1154756"/>
          </a:xfrm>
          <a:prstGeom prst="rect">
            <a:avLst/>
          </a:prstGeom>
          <a:ln w="12700">
            <a:miter lim="400000"/>
          </a:ln>
        </p:spPr>
      </p:pic>
      <p:sp>
        <p:nvSpPr>
          <p:cNvPr id="71" name="Shape 71"/>
          <p:cNvSpPr/>
          <p:nvPr/>
        </p:nvSpPr>
        <p:spPr>
          <a:xfrm>
            <a:off x="3018278" y="6078640"/>
            <a:ext cx="15459554" cy="1001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pPr marL="0" marR="0" lvl="0" indent="0" algn="ctr" defTabSz="1087437" rtl="0" eaLnBrk="1" fontAlgn="auto" latinLnBrk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sz="7000" b="0" i="1" u="none" strike="noStrike" kern="0" cap="none" spc="0" normalizeH="0" baseline="0" noProof="0" dirty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Adagio_Slab"/>
                <a:sym typeface="Adagio_Slab"/>
              </a:rPr>
              <a:t>Dziękujemy za </a:t>
            </a:r>
            <a:r>
              <a:rPr kumimoji="0" lang="pl-PL" sz="7000" b="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dagio_Slab"/>
                <a:sym typeface="Adagio_Slab"/>
              </a:rPr>
              <a:t>uwagę</a:t>
            </a:r>
            <a:r>
              <a:rPr kumimoji="0" lang="pl-PL" sz="7000" b="0" i="1" u="none" strike="noStrike" kern="0" cap="none" spc="0" normalizeH="0" baseline="0" noProof="0" dirty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Adagio_Slab"/>
                <a:sym typeface="Adagio_Slab"/>
              </a:rPr>
              <a:t> !!!</a:t>
            </a:r>
            <a:endParaRPr kumimoji="0" sz="7000" b="0" i="1" u="none" strike="noStrike" kern="0" cap="none" spc="0" normalizeH="0" baseline="0" noProof="0" dirty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Adagio_Slab"/>
              <a:sym typeface="Adagio_Slab"/>
            </a:endParaRPr>
          </a:p>
        </p:txBody>
      </p:sp>
      <p:pic>
        <p:nvPicPr>
          <p:cNvPr id="72" name="pasted-image.pd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304" y="1157336"/>
            <a:ext cx="4628477" cy="156737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964818950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Office">
  <a:themeElements>
    <a:clrScheme name="Office">
      <a:dk1>
        <a:srgbClr val="6ABA9C"/>
      </a:dk1>
      <a:lt1>
        <a:srgbClr val="6ABA9C"/>
      </a:lt1>
      <a:dk2>
        <a:srgbClr val="A7A7A7"/>
      </a:dk2>
      <a:lt2>
        <a:srgbClr val="535353"/>
      </a:lt2>
      <a:accent1>
        <a:srgbClr val="00CC99"/>
      </a:accent1>
      <a:accent2>
        <a:srgbClr val="3333CC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Helvetica"/>
        <a:ea typeface="Helvetica"/>
        <a:cs typeface="Helvetica"/>
      </a:majorFont>
      <a:minorFont>
        <a:latin typeface="Times New Roman"/>
        <a:ea typeface="Times New Roma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ABA9C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110709" tIns="110709" rIns="110709" bIns="110709" numCol="1" spcCol="38100" rtlCol="0" anchor="t">
        <a:spAutoFit/>
      </a:bodyPr>
      <a:lstStyle>
        <a:defPPr marL="0" marR="0" indent="0" algn="l" defTabSz="1087437" rtl="0" fontAlgn="auto" latinLnBrk="0" hangingPunct="0">
          <a:lnSpc>
            <a:spcPct val="120000"/>
          </a:lnSpc>
          <a:spcBef>
            <a:spcPts val="300"/>
          </a:spcBef>
          <a:spcAft>
            <a:spcPts val="0"/>
          </a:spcAft>
          <a:buClrTx/>
          <a:buSzTx/>
          <a:buFontTx/>
          <a:buNone/>
          <a:tabLst/>
          <a:defRPr kumimoji="0" sz="4000" b="0" i="0" u="none" strike="noStrike" cap="none" spc="0" normalizeH="0" baseline="0">
            <a:ln>
              <a:noFill/>
            </a:ln>
            <a:solidFill>
              <a:srgbClr val="6ABA9C"/>
            </a:solidFill>
            <a:effectLst/>
            <a:uFillTx/>
            <a:latin typeface="+mn-lt"/>
            <a:ea typeface="+mn-ea"/>
            <a:cs typeface="+mn-cs"/>
            <a:sym typeface="Times New Roman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110709" tIns="110709" rIns="110709" bIns="110709" numCol="1" spcCol="38100" rtlCol="0" anchor="t">
        <a:spAutoFit/>
      </a:bodyPr>
      <a:lstStyle>
        <a:defPPr marL="0" marR="0" indent="0" algn="l" defTabSz="1087437" rtl="0" fontAlgn="auto" latinLnBrk="0" hangingPunct="0">
          <a:lnSpc>
            <a:spcPct val="120000"/>
          </a:lnSpc>
          <a:spcBef>
            <a:spcPts val="300"/>
          </a:spcBef>
          <a:spcAft>
            <a:spcPts val="0"/>
          </a:spcAft>
          <a:buClrTx/>
          <a:buSzTx/>
          <a:buFontTx/>
          <a:buNone/>
          <a:tabLst/>
          <a:defRPr kumimoji="0" sz="4000" b="0" i="0" u="none" strike="noStrike" cap="none" spc="0" normalizeH="0" baseline="0">
            <a:ln>
              <a:noFill/>
            </a:ln>
            <a:solidFill>
              <a:srgbClr val="6ABA9C"/>
            </a:solidFill>
            <a:effectLst/>
            <a:uFillTx/>
            <a:latin typeface="+mn-lt"/>
            <a:ea typeface="+mn-ea"/>
            <a:cs typeface="+mn-cs"/>
            <a:sym typeface="Times New Roman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CC99"/>
      </a:accent1>
      <a:accent2>
        <a:srgbClr val="3333CC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Helvetica"/>
        <a:ea typeface="Helvetica"/>
        <a:cs typeface="Helvetica"/>
      </a:majorFont>
      <a:minorFont>
        <a:latin typeface="Times New Roman"/>
        <a:ea typeface="Times New Roma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ABA9C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110709" tIns="110709" rIns="110709" bIns="110709" numCol="1" spcCol="38100" rtlCol="0" anchor="t">
        <a:spAutoFit/>
      </a:bodyPr>
      <a:lstStyle>
        <a:defPPr marL="0" marR="0" indent="0" algn="l" defTabSz="1087437" rtl="0" fontAlgn="auto" latinLnBrk="0" hangingPunct="0">
          <a:lnSpc>
            <a:spcPct val="120000"/>
          </a:lnSpc>
          <a:spcBef>
            <a:spcPts val="300"/>
          </a:spcBef>
          <a:spcAft>
            <a:spcPts val="0"/>
          </a:spcAft>
          <a:buClrTx/>
          <a:buSzTx/>
          <a:buFontTx/>
          <a:buNone/>
          <a:tabLst/>
          <a:defRPr kumimoji="0" sz="4000" b="0" i="0" u="none" strike="noStrike" cap="none" spc="0" normalizeH="0" baseline="0">
            <a:ln>
              <a:noFill/>
            </a:ln>
            <a:solidFill>
              <a:srgbClr val="6ABA9C"/>
            </a:solidFill>
            <a:effectLst/>
            <a:uFillTx/>
            <a:latin typeface="+mn-lt"/>
            <a:ea typeface="+mn-ea"/>
            <a:cs typeface="+mn-cs"/>
            <a:sym typeface="Times New Roman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110709" tIns="110709" rIns="110709" bIns="110709" numCol="1" spcCol="38100" rtlCol="0" anchor="t">
        <a:spAutoFit/>
      </a:bodyPr>
      <a:lstStyle>
        <a:defPPr marL="0" marR="0" indent="0" algn="l" defTabSz="1087437" rtl="0" fontAlgn="auto" latinLnBrk="0" hangingPunct="0">
          <a:lnSpc>
            <a:spcPct val="120000"/>
          </a:lnSpc>
          <a:spcBef>
            <a:spcPts val="300"/>
          </a:spcBef>
          <a:spcAft>
            <a:spcPts val="0"/>
          </a:spcAft>
          <a:buClrTx/>
          <a:buSzTx/>
          <a:buFontTx/>
          <a:buNone/>
          <a:tabLst/>
          <a:defRPr kumimoji="0" sz="4000" b="0" i="0" u="none" strike="noStrike" cap="none" spc="0" normalizeH="0" baseline="0">
            <a:ln>
              <a:noFill/>
            </a:ln>
            <a:solidFill>
              <a:srgbClr val="6ABA9C"/>
            </a:solidFill>
            <a:effectLst/>
            <a:uFillTx/>
            <a:latin typeface="+mn-lt"/>
            <a:ea typeface="+mn-ea"/>
            <a:cs typeface="+mn-cs"/>
            <a:sym typeface="Times New Roman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544</TotalTime>
  <Words>1364</Words>
  <Application>Microsoft Macintosh PowerPoint</Application>
  <PresentationFormat>Niestandardowy</PresentationFormat>
  <Paragraphs>109</Paragraphs>
  <Slides>9</Slides>
  <Notes>5</Notes>
  <HiddenSlides>0</HiddenSlides>
  <MMClips>0</MMClips>
  <ScaleCrop>false</ScaleCrop>
  <HeadingPairs>
    <vt:vector size="6" baseType="variant">
      <vt:variant>
        <vt:lpstr>Używane czcionki</vt:lpstr>
      </vt:variant>
      <vt:variant>
        <vt:i4>7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9</vt:i4>
      </vt:variant>
    </vt:vector>
  </HeadingPairs>
  <TitlesOfParts>
    <vt:vector size="17" baseType="lpstr">
      <vt:lpstr>Adagio_Slab</vt:lpstr>
      <vt:lpstr>Adagio_Slab-Regular_italic</vt:lpstr>
      <vt:lpstr>Arial</vt:lpstr>
      <vt:lpstr>Courier New</vt:lpstr>
      <vt:lpstr>Helvetica</vt:lpstr>
      <vt:lpstr>Radikal WUT</vt:lpstr>
      <vt:lpstr>Times New Roman</vt:lpstr>
      <vt:lpstr>Office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Manager/>
  <Company>Wydział Elektryczny, Politechnika Warszawska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na obronę pracy dyolomowej</dc:title>
  <dc:subject/>
  <dc:creator>Grzegorz Sarwas, Włodzimierz Dąbrowski</dc:creator>
  <cp:keywords>Prace dyplomowe</cp:keywords>
  <dc:description>Przykładowy szablon prezentacji na obronę pracy dyplomowej z uwzględnieniem obowiązującej identyfikacji wizualnej PW.
Wersja 1.0</dc:description>
  <cp:lastModifiedBy>Dubiak Jędrzej (STUD)</cp:lastModifiedBy>
  <cp:revision>23</cp:revision>
  <dcterms:modified xsi:type="dcterms:W3CDTF">2026-10-31T18:42:11Z</dcterms:modified>
  <cp:category>Dyplom</cp:category>
</cp:coreProperties>
</file>