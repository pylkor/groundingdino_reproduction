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73" r:id="rId5"/>
    <p:sldId id="271" r:id="rId6"/>
    <p:sldId id="265" r:id="rId7"/>
    <p:sldId id="266" r:id="rId8"/>
    <p:sldId id="267" r:id="rId9"/>
    <p:sldId id="272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1pPr>
    <a:lvl2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2pPr>
    <a:lvl3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3pPr>
    <a:lvl4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4pPr>
    <a:lvl5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5pPr>
    <a:lvl6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6pPr>
    <a:lvl7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7pPr>
    <a:lvl8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8pPr>
    <a:lvl9pPr marL="0" marR="0" indent="0" algn="l" defTabSz="1087437" rtl="0" fontAlgn="auto" latinLnBrk="0" hangingPunct="0">
      <a:lnSpc>
        <a:spcPct val="120000"/>
      </a:lnSpc>
      <a:spcBef>
        <a:spcPts val="3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6ABA9C"/>
        </a:solidFill>
        <a:effectLst/>
        <a:uFillTx/>
        <a:latin typeface="+mn-lt"/>
        <a:ea typeface="+mn-ea"/>
        <a:cs typeface="+mn-cs"/>
        <a:sym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96CF"/>
    <a:srgbClr val="E6EFFF"/>
    <a:srgbClr val="96B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6ABA9C"/>
        </a:fontRef>
        <a:srgbClr val="6ABA9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12700" cap="flat">
              <a:solidFill>
                <a:srgbClr val="3C3C4C"/>
              </a:solidFill>
              <a:prstDash val="solid"/>
              <a:round/>
            </a:ln>
          </a:top>
          <a:bottom>
            <a:ln w="127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ff">
        <a:fontRef idx="major">
          <a:srgbClr val="3C3C4C"/>
        </a:fontRef>
        <a:srgbClr val="3C3C4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12700" cap="flat">
              <a:solidFill>
                <a:srgbClr val="3C3C4C"/>
              </a:solidFill>
              <a:prstDash val="solid"/>
              <a:round/>
            </a:ln>
          </a:top>
          <a:bottom>
            <a:ln w="127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3C3C4C"/>
        </a:fontRef>
        <a:srgbClr val="3C3C4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38100" cap="flat">
              <a:solidFill>
                <a:srgbClr val="3C3C4C"/>
              </a:solidFill>
              <a:prstDash val="solid"/>
              <a:round/>
            </a:ln>
          </a:top>
          <a:bottom>
            <a:ln w="127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3C3C4C"/>
        </a:fontRef>
        <a:srgbClr val="3C3C4C"/>
      </a:tcTxStyle>
      <a:tcStyle>
        <a:tcBdr>
          <a:left>
            <a:ln w="12700" cap="flat">
              <a:solidFill>
                <a:srgbClr val="3C3C4C"/>
              </a:solidFill>
              <a:prstDash val="solid"/>
              <a:round/>
            </a:ln>
          </a:left>
          <a:right>
            <a:ln w="12700" cap="flat">
              <a:solidFill>
                <a:srgbClr val="3C3C4C"/>
              </a:solidFill>
              <a:prstDash val="solid"/>
              <a:round/>
            </a:ln>
          </a:right>
          <a:top>
            <a:ln w="12700" cap="flat">
              <a:solidFill>
                <a:srgbClr val="3C3C4C"/>
              </a:solidFill>
              <a:prstDash val="solid"/>
              <a:round/>
            </a:ln>
          </a:top>
          <a:bottom>
            <a:ln w="38100" cap="flat">
              <a:solidFill>
                <a:srgbClr val="3C3C4C"/>
              </a:solidFill>
              <a:prstDash val="solid"/>
              <a:round/>
            </a:ln>
          </a:bottom>
          <a:insideH>
            <a:ln w="12700" cap="flat">
              <a:solidFill>
                <a:srgbClr val="3C3C4C"/>
              </a:solidFill>
              <a:prstDash val="solid"/>
              <a:round/>
            </a:ln>
          </a:insideH>
          <a:insideV>
            <a:ln w="12700" cap="flat">
              <a:solidFill>
                <a:srgbClr val="3C3C4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AF3EF"/>
          </a:solidFill>
        </a:fill>
      </a:tcStyle>
    </a:wholeTbl>
    <a:band2H>
      <a:tcTxStyle/>
      <a:tcStyle>
        <a:tcBdr/>
        <a:fill>
          <a:solidFill>
            <a:srgbClr val="6ABA9C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6ABA9C"/>
              </a:solidFill>
              <a:prstDash val="solid"/>
              <a:round/>
            </a:ln>
          </a:top>
          <a:bottom>
            <a:ln w="254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ABA9C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6ABA9C"/>
              </a:solidFill>
              <a:prstDash val="solid"/>
              <a:round/>
            </a:ln>
          </a:top>
          <a:bottom>
            <a:ln w="254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D3E6DE"/>
          </a:solidFill>
        </a:fill>
      </a:tcStyle>
    </a:wholeTbl>
    <a:band2H>
      <a:tcTxStyle/>
      <a:tcStyle>
        <a:tcBdr/>
        <a:fill>
          <a:solidFill>
            <a:srgbClr val="EAF3EF"/>
          </a:solidFill>
        </a:fill>
      </a:tcStyle>
    </a:band2H>
    <a:firstCol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6ABA9C"/>
          </a:solidFill>
        </a:fill>
      </a:tcStyle>
    </a:firstCol>
    <a:la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38100" cap="flat">
              <a:solidFill>
                <a:srgbClr val="6ABA9C"/>
              </a:solidFill>
              <a:prstDash val="solid"/>
              <a:round/>
            </a:ln>
          </a:top>
          <a:bottom>
            <a:ln w="127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6ABA9C"/>
          </a:solidFill>
        </a:fill>
      </a:tcStyle>
    </a:lastRow>
    <a:firstRow>
      <a:tcTxStyle b="on" i="off">
        <a:fontRef idx="minor">
          <a:srgbClr val="6ABA9C"/>
        </a:fontRef>
        <a:srgbClr val="6ABA9C"/>
      </a:tcTxStyle>
      <a:tcStyle>
        <a:tcBdr>
          <a:left>
            <a:ln w="12700" cap="flat">
              <a:solidFill>
                <a:srgbClr val="6ABA9C"/>
              </a:solidFill>
              <a:prstDash val="solid"/>
              <a:round/>
            </a:ln>
          </a:left>
          <a:right>
            <a:ln w="12700" cap="flat">
              <a:solidFill>
                <a:srgbClr val="6ABA9C"/>
              </a:solidFill>
              <a:prstDash val="solid"/>
              <a:round/>
            </a:ln>
          </a:right>
          <a:top>
            <a:ln w="12700" cap="flat">
              <a:solidFill>
                <a:srgbClr val="6ABA9C"/>
              </a:solidFill>
              <a:prstDash val="solid"/>
              <a:round/>
            </a:ln>
          </a:top>
          <a:bottom>
            <a:ln w="38100" cap="flat">
              <a:solidFill>
                <a:srgbClr val="6ABA9C"/>
              </a:solidFill>
              <a:prstDash val="solid"/>
              <a:round/>
            </a:ln>
          </a:bottom>
          <a:insideH>
            <a:ln w="12700" cap="flat">
              <a:solidFill>
                <a:srgbClr val="6ABA9C"/>
              </a:solidFill>
              <a:prstDash val="solid"/>
              <a:round/>
            </a:ln>
          </a:insideH>
          <a:insideV>
            <a:ln w="12700" cap="flat">
              <a:solidFill>
                <a:srgbClr val="6ABA9C"/>
              </a:solidFill>
              <a:prstDash val="solid"/>
              <a:round/>
            </a:ln>
          </a:insideV>
        </a:tcBdr>
        <a:fill>
          <a:solidFill>
            <a:srgbClr val="6ABA9C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31"/>
    <p:restoredTop sz="70405" autoAdjust="0"/>
  </p:normalViewPr>
  <p:slideViewPr>
    <p:cSldViewPr snapToGrid="0">
      <p:cViewPr varScale="1">
        <p:scale>
          <a:sx n="57" d="100"/>
          <a:sy n="57" d="100"/>
        </p:scale>
        <p:origin x="178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1pPr>
    <a:lvl2pPr indent="2286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2pPr>
    <a:lvl3pPr indent="4572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3pPr>
    <a:lvl4pPr indent="6858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4pPr>
    <a:lvl5pPr indent="9144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5pPr>
    <a:lvl6pPr indent="11430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6pPr>
    <a:lvl7pPr indent="13716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7pPr>
    <a:lvl8pPr indent="16002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8pPr>
    <a:lvl9pPr indent="1828800" defTabSz="1087437" latinLnBrk="0">
      <a:spcBef>
        <a:spcPts val="900"/>
      </a:spcBef>
      <a:defRPr sz="2800">
        <a:latin typeface="+mn-lt"/>
        <a:ea typeface="+mn-ea"/>
        <a:cs typeface="+mn-cs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Open-set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object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detection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(Detekcja w zbiorze otwartym):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Zdolność modelu do lokalizowania i rozpoznawania obiektów, które 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nie znajdowały się w zamkniętej liście klas treningowych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. Zamiast sztywnego zestawu etykiet (np. 80 klas z COCO), klasami sterujemy dowolnym tekstem w języku naturalnym, w tym pełnymi opisami z cechami i relacjami (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Referring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Expression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Comprehension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). </a:t>
            </a:r>
          </a:p>
          <a:p>
            <a:pPr lvl="0"/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Grounded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Pre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-Training (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Pre-training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z zakorzenieniem tekstu w obrazie):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Metodyka trenowania modelu na ogromnych zbiorach danych, gdzie zadanie detekcji jest sformułowane jako dopasowywanie konkretnych fraz tekstowych do regionów obrazu (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phrase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grounding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). Zamiast klasyfikatora z jedną warstwą wyjściową, model uczy się wspólnej przestrzeni cech obrazu i tekstu za pomocą straty kontrastowej (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contrastive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loss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). </a:t>
            </a:r>
          </a:p>
          <a:p>
            <a:pPr lvl="0"/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Sub-sentence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level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text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representation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(Reprezentacja tekstu na poziomie pod-zdań):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Innowacyjny sposób kodowania tekstu wprowadzony w Grounding DINO. Gdy do </a:t>
            </a:r>
            <a:r>
              <a:rPr lang="pl-PL" sz="2800" dirty="0" err="1">
                <a:effectLst/>
                <a:latin typeface="+mn-lt"/>
                <a:ea typeface="+mn-ea"/>
                <a:cs typeface="+mn-cs"/>
                <a:sym typeface="Times New Roman"/>
              </a:rPr>
              <a:t>promptu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wrzucamy wiele niezależnych nazw klas (np. 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„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cat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. person. dog.”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), zwykły mechanizm atencji mieszałby ich znaczenia. Grounding DINO stosuje 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specjalne maski atencji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, które blokują interakcję między niespokrewnionymi pojęciami, zachowując jednocześnie szczegółowe cechy na poziomie pojedynczych słów (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per-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word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features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). </a:t>
            </a:r>
          </a:p>
          <a:p>
            <a:pPr lvl="0"/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Tight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feature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fusion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(Ścisła fuzja cech):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Trzystopniowa integracja modalności wizualnej i tekstowej wewnątrz sieci: </a:t>
            </a:r>
          </a:p>
          <a:p>
            <a:pPr lvl="1"/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W koderze/szyjce (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Feature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Enhancer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), </a:t>
            </a:r>
          </a:p>
          <a:p>
            <a:pPr lvl="1"/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Przy inicjalizacji zapytań (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Language-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Guided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Query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Selection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), </a:t>
            </a:r>
          </a:p>
          <a:p>
            <a:pPr lvl="1"/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W dekoderze (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Cross-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Modality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Decoder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). </a:t>
            </a:r>
          </a:p>
          <a:p>
            <a:pPr lvl="1"/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Wcześniejsze modele łączyły tekst z obrazem tylko na jednym etapie (np. GLIP tylko w szyjce, a OV-DETR tylko w zapytaniach). </a:t>
            </a:r>
          </a:p>
          <a:p>
            <a:pPr lvl="0"/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Language-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Guided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Query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Selection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(Wybór zapytań sterowany językiem):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Mechanizm dynamicznego wybierania regionów z mapy cech obrazu, które stają się zapytaniami (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object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queries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) przekazywanymi do dekodera. Zamiast losowych lub statycznych zapytań, model oblicza iloczyn skalarny cech obrazu i tekstu i wybiera te punkty w obrazie (domyślnie 900), które wykazują 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najwyższe prawdopodobieństwo powiązania z wpisanym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promptem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.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6922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„Główną siłą architektury Grounding DINO jest schemat 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dual-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encoder</a:t>
            </a:r>
            <a:r>
              <a:rPr lang="pl-PL" sz="2800" i="1" dirty="0">
                <a:effectLst/>
                <a:latin typeface="+mn-lt"/>
                <a:ea typeface="+mn-ea"/>
                <a:cs typeface="+mn-cs"/>
                <a:sym typeface="Times New Roman"/>
              </a:rPr>
              <a:t> single-</a:t>
            </a:r>
            <a:r>
              <a:rPr lang="pl-PL" sz="2800" i="1" dirty="0" err="1">
                <a:effectLst/>
                <a:latin typeface="+mn-lt"/>
                <a:ea typeface="+mn-ea"/>
                <a:cs typeface="+mn-cs"/>
                <a:sym typeface="Times New Roman"/>
              </a:rPr>
              <a:t>decoder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z trzystopniową, głęboką fuzją modalności. Zamiast łączyć obraz z tekstem tylko raz, interakcja zachodzi na każdym z trzech poziomów: </a:t>
            </a:r>
          </a:p>
          <a:p>
            <a:pPr lvl="0"/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W module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Feature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Enhancer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, gdzie warstwy cross-</a:t>
            </a:r>
            <a:r>
              <a:rPr lang="pl-PL" sz="2800" dirty="0" err="1">
                <a:effectLst/>
                <a:latin typeface="+mn-lt"/>
                <a:ea typeface="+mn-ea"/>
                <a:cs typeface="+mn-cs"/>
                <a:sym typeface="Times New Roman"/>
              </a:rPr>
              <a:t>attention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 nieustannie wymieniają informacje między cechami wizualnymi a wektorami tekstu. </a:t>
            </a:r>
          </a:p>
          <a:p>
            <a:pPr lvl="0"/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Na etapie 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Query </a:t>
            </a:r>
            <a:r>
              <a:rPr lang="pl-PL" sz="2800" b="1" dirty="0" err="1">
                <a:effectLst/>
                <a:latin typeface="+mn-lt"/>
                <a:ea typeface="+mn-ea"/>
                <a:cs typeface="+mn-cs"/>
                <a:sym typeface="Times New Roman"/>
              </a:rPr>
              <a:t>Selection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, gdzie kwerendy obiektowe do dekodera nie są losowe, lecz wyznaczane przez regiony obrazu najlepiej pasujące semantycznie do wpisanego tekstu. </a:t>
            </a:r>
          </a:p>
          <a:p>
            <a:pPr lvl="0"/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Wreszcie w </a:t>
            </a:r>
            <a:r>
              <a:rPr lang="pl-PL" sz="2800" b="1" dirty="0">
                <a:effectLst/>
                <a:latin typeface="+mn-lt"/>
                <a:ea typeface="+mn-ea"/>
                <a:cs typeface="+mn-cs"/>
                <a:sym typeface="Times New Roman"/>
              </a:rPr>
              <a:t>dekoderze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, w którym każda warstwa posiada dodatkową atencję krzyżową do tekstu, stale pilnując dopasowania wykrywanych obiektów do </a:t>
            </a:r>
            <a:r>
              <a:rPr lang="pl-PL" sz="2800" dirty="0" err="1">
                <a:effectLst/>
                <a:latin typeface="+mn-lt"/>
                <a:ea typeface="+mn-ea"/>
                <a:cs typeface="+mn-cs"/>
                <a:sym typeface="Times New Roman"/>
              </a:rPr>
              <a:t>promptu</a:t>
            </a:r>
            <a:r>
              <a:rPr lang="pl-PL" sz="2800" dirty="0">
                <a:effectLst/>
                <a:latin typeface="+mn-lt"/>
                <a:ea typeface="+mn-ea"/>
                <a:cs typeface="+mn-cs"/>
                <a:sym typeface="Times New Roman"/>
              </a:rPr>
              <a:t>.”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280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bg>
      <p:bgPr>
        <a:solidFill>
          <a:srgbClr val="3C3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3657600" y="7772400"/>
            <a:ext cx="17068800" cy="3505200"/>
          </a:xfrm>
          <a:prstGeom prst="rect">
            <a:avLst/>
          </a:prstGeom>
        </p:spPr>
        <p:txBody>
          <a:bodyPr/>
          <a:lstStyle>
            <a:lvl1pPr algn="ctr"/>
            <a:lvl2pPr marL="0" indent="0" algn="ctr">
              <a:buSzTx/>
              <a:buNone/>
            </a:lvl2pPr>
            <a:lvl3pPr marL="0" algn="ctr">
              <a:buSzTx/>
              <a:buNone/>
            </a:lvl3pPr>
            <a:lvl4pPr marL="0" algn="ctr">
              <a:buSzTx/>
              <a:buNone/>
            </a:lvl4pPr>
            <a:lvl5pPr marL="0" algn="ctr"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xfrm>
            <a:off x="22599689" y="989012"/>
            <a:ext cx="693701" cy="812801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B4A0AA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xfrm>
            <a:off x="1270000" y="898525"/>
            <a:ext cx="20296188" cy="23018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1266825" y="3173409"/>
            <a:ext cx="19483388" cy="8675693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A9A240B-F9B9-7549-8E1B-74F8467B7E23}"/>
              </a:ext>
            </a:extLst>
          </p:cNvPr>
          <p:cNvSpPr txBox="1"/>
          <p:nvPr userDrawn="1"/>
        </p:nvSpPr>
        <p:spPr>
          <a:xfrm>
            <a:off x="17784824" y="12662452"/>
            <a:ext cx="5401280" cy="852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10709" tIns="110709" rIns="110709" bIns="110709" numCol="1" spcCol="38100" rtlCol="0" anchor="b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Warszawa, 02 listopada 2026 r.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E0459D3-1299-7B4C-8E7D-59E9A5BE85EB}"/>
              </a:ext>
            </a:extLst>
          </p:cNvPr>
          <p:cNvSpPr txBox="1"/>
          <p:nvPr userDrawn="1"/>
        </p:nvSpPr>
        <p:spPr>
          <a:xfrm>
            <a:off x="6738731" y="12662452"/>
            <a:ext cx="3213343" cy="8529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b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3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Grounding DINO</a:t>
            </a:r>
            <a:endParaRPr kumimoji="0" lang="pl-PL" sz="3200" b="0" i="1" u="none" strike="noStrike" cap="none" spc="0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Times New Roman"/>
            </a:endParaRPr>
          </a:p>
        </p:txBody>
      </p:sp>
      <p:pic>
        <p:nvPicPr>
          <p:cNvPr id="7" name="image3.png">
            <a:extLst>
              <a:ext uri="{FF2B5EF4-FFF2-40B4-BE49-F238E27FC236}">
                <a16:creationId xmlns:a16="http://schemas.microsoft.com/office/drawing/2014/main" id="{77B247D2-2669-CF40-A5C5-9383B3C73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53751" y="1276350"/>
            <a:ext cx="5105403" cy="11163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asted-image.pdf">
            <a:extLst>
              <a:ext uri="{FF2B5EF4-FFF2-40B4-BE49-F238E27FC236}">
                <a16:creationId xmlns:a16="http://schemas.microsoft.com/office/drawing/2014/main" id="{3FEBF2C8-7012-4A4A-AEDA-59FFB1906E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77547" y="12711948"/>
            <a:ext cx="2226547" cy="75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1.png">
            <a:extLst>
              <a:ext uri="{FF2B5EF4-FFF2-40B4-BE49-F238E27FC236}">
                <a16:creationId xmlns:a16="http://schemas.microsoft.com/office/drawing/2014/main" id="{DCDE4F05-29E1-9641-94D0-666413A213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2815" y="12782636"/>
            <a:ext cx="1833123" cy="6126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hape 5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hape 5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BA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eg"/>
          <p:cNvPicPr>
            <a:picLocks noChangeAspect="1"/>
          </p:cNvPicPr>
          <p:nvPr/>
        </p:nvPicPr>
        <p:blipFill>
          <a:blip r:embed="rId5">
            <a:alphaModFix amt="61720"/>
          </a:blip>
          <a:srcRect l="773" t="6618" r="2642" b="17335"/>
          <a:stretch>
            <a:fillRect/>
          </a:stretch>
        </p:blipFill>
        <p:spPr>
          <a:xfrm>
            <a:off x="-2024066" y="-44450"/>
            <a:ext cx="26296944" cy="13804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12460285"/>
            <a:ext cx="2085975" cy="69850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4"/>
          <p:cNvSpPr>
            <a:spLocks noGrp="1"/>
          </p:cNvSpPr>
          <p:nvPr>
            <p:ph type="title"/>
          </p:nvPr>
        </p:nvSpPr>
        <p:spPr>
          <a:xfrm>
            <a:off x="1273175" y="898525"/>
            <a:ext cx="20296188" cy="230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Shape 5"/>
          <p:cNvSpPr>
            <a:spLocks noGrp="1"/>
          </p:cNvSpPr>
          <p:nvPr>
            <p:ph type="body" idx="1"/>
          </p:nvPr>
        </p:nvSpPr>
        <p:spPr>
          <a:xfrm>
            <a:off x="1219200" y="3200400"/>
            <a:ext cx="21945600" cy="9051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xfrm>
            <a:off x="23810696" y="12288837"/>
            <a:ext cx="882867" cy="1054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lnSpc>
                <a:spcPct val="93000"/>
              </a:lnSpc>
              <a:spcBef>
                <a:spcPts val="400"/>
              </a:spcBef>
              <a:defRPr sz="6900">
                <a:solidFill>
                  <a:srgbClr val="3C3C4C"/>
                </a:solidFill>
                <a:latin typeface="Radikal WUT"/>
                <a:ea typeface="Radikal WUT"/>
                <a:cs typeface="Radikal WUT"/>
                <a:sym typeface="Radikal WU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ransition spd="med"/>
  <p:hf hdr="0" ftr="0" dt="0"/>
  <p:txStyles>
    <p:titleStyle>
      <a:lvl1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1087437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ln>
            <a:noFill/>
          </a:ln>
          <a:solidFill>
            <a:srgbClr val="3C3C4C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1pPr>
      <a:lvl2pPr marL="681566" marR="0" indent="-338666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2pPr>
      <a:lvl3pPr marL="3429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3pPr>
      <a:lvl4pPr marL="3429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4pPr>
      <a:lvl5pPr marL="3429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-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5pPr>
      <a:lvl6pPr marL="8001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6pPr>
      <a:lvl7pPr marL="12573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7pPr>
      <a:lvl8pPr marL="17145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8pPr>
      <a:lvl9pPr marL="2171700" marR="0" indent="0" algn="l" defTabSz="1087437" rtl="0" latinLnBrk="0">
        <a:lnSpc>
          <a:spcPct val="12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3C3C4C"/>
          </a:solidFill>
          <a:uFillTx/>
          <a:latin typeface="Adagio_Slab"/>
          <a:ea typeface="Adagio_Slab"/>
          <a:cs typeface="Adagio_Slab"/>
          <a:sym typeface="Adagio_Slab"/>
        </a:defRPr>
      </a:lvl9pPr>
    </p:bodyStyle>
    <p:otherStyle>
      <a:lvl1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1pPr>
      <a:lvl2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2pPr>
      <a:lvl3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3pPr>
      <a:lvl4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4pPr>
      <a:lvl5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5pPr>
      <a:lvl6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6pPr>
      <a:lvl7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7pPr>
      <a:lvl8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8pPr>
      <a:lvl9pPr marL="0" marR="0" indent="0" algn="r" defTabSz="1087437" rtl="0" latinLnBrk="0">
        <a:lnSpc>
          <a:spcPct val="93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sz="6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Radikal WU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DEA-Research/GroundingDINO/tree/main" TargetMode="External"/><Relationship Id="rId2" Type="http://schemas.openxmlformats.org/officeDocument/2006/relationships/hyperlink" Target="https://arxiv.org/pdf/2303.0549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ocs/transformers/model_doc/grounding-dino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6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0" y="1157814"/>
            <a:ext cx="5080000" cy="11107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059872"/>
            <a:ext cx="3429000" cy="115475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pasted-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304" y="1157336"/>
            <a:ext cx="4628477" cy="15673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" name="Grupa 3">
            <a:extLst>
              <a:ext uri="{FF2B5EF4-FFF2-40B4-BE49-F238E27FC236}">
                <a16:creationId xmlns:a16="http://schemas.microsoft.com/office/drawing/2014/main" id="{F7560E98-8B47-E7BD-D6DA-EA6AB074D230}"/>
              </a:ext>
            </a:extLst>
          </p:cNvPr>
          <p:cNvGrpSpPr/>
          <p:nvPr/>
        </p:nvGrpSpPr>
        <p:grpSpPr>
          <a:xfrm>
            <a:off x="762000" y="5232301"/>
            <a:ext cx="17189294" cy="3775426"/>
            <a:chOff x="2667000" y="5167914"/>
            <a:chExt cx="15459554" cy="2842586"/>
          </a:xfrm>
        </p:grpSpPr>
        <p:sp>
          <p:nvSpPr>
            <p:cNvPr id="71" name="Shape 71"/>
            <p:cNvSpPr/>
            <p:nvPr/>
          </p:nvSpPr>
          <p:spPr>
            <a:xfrm>
              <a:off x="2667000" y="5770605"/>
              <a:ext cx="15459554" cy="12391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93000"/>
                </a:lnSpc>
                <a:spcBef>
                  <a:spcPts val="0"/>
                </a:spcBef>
                <a:defRPr sz="7000">
                  <a:solidFill>
                    <a:srgbClr val="3C3C4C"/>
                  </a:solidFill>
                  <a:latin typeface="Adagio_Slab"/>
                  <a:ea typeface="Adagio_Slab"/>
                  <a:cs typeface="Adagio_Slab"/>
                  <a:sym typeface="Adagio_Slab"/>
                </a:defRPr>
              </a:lvl1pPr>
            </a:lstStyle>
            <a:p>
              <a:pPr algn="ctr"/>
              <a:r>
                <a:rPr lang="pl-PL" sz="11500" i="1" dirty="0"/>
                <a:t>Grounding DINO</a:t>
              </a:r>
              <a:endParaRPr sz="11500" i="1" dirty="0"/>
            </a:p>
          </p:txBody>
        </p:sp>
        <p:sp>
          <p:nvSpPr>
            <p:cNvPr id="2" name="pole tekstowe 1">
              <a:extLst>
                <a:ext uri="{FF2B5EF4-FFF2-40B4-BE49-F238E27FC236}">
                  <a16:creationId xmlns:a16="http://schemas.microsoft.com/office/drawing/2014/main" id="{A783F90A-2F92-4B96-AA06-2331F693E78A}"/>
                </a:ext>
              </a:extLst>
            </p:cNvPr>
            <p:cNvSpPr txBox="1"/>
            <p:nvPr/>
          </p:nvSpPr>
          <p:spPr>
            <a:xfrm>
              <a:off x="5245984" y="7009784"/>
              <a:ext cx="10492739" cy="10007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10709" tIns="110709" rIns="110709" bIns="110709" numCol="1" spcCol="38100" rtlCol="0" anchor="t">
              <a:spAutoFit/>
            </a:bodyPr>
            <a:lstStyle/>
            <a:p>
              <a:pPr marL="0" marR="0" indent="0" algn="ctr" defTabSz="1087437" rtl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l-PL" sz="4000" b="0" i="1" u="none" strike="noStrike" cap="none" spc="0" normalizeH="0" baseline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FillTx/>
                  <a:sym typeface="Times New Roman"/>
                </a:rPr>
                <a:t>Jędrzej Dubiak, Michał Jagodziński, </a:t>
              </a:r>
              <a:r>
                <a:rPr lang="pl-PL" i="1" dirty="0">
                  <a:solidFill>
                    <a:schemeClr val="tx2">
                      <a:lumMod val="50000"/>
                    </a:schemeClr>
                  </a:solidFill>
                </a:rPr>
                <a:t>Rafał Pyłko</a:t>
              </a:r>
              <a:endParaRPr kumimoji="0" lang="pl-PL" sz="4000" b="0" i="1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sym typeface="Times New Roman"/>
              </a:endParaRPr>
            </a:p>
          </p:txBody>
        </p:sp>
        <p:sp>
          <p:nvSpPr>
            <p:cNvPr id="8" name="pole tekstowe 7">
              <a:extLst>
                <a:ext uri="{FF2B5EF4-FFF2-40B4-BE49-F238E27FC236}">
                  <a16:creationId xmlns:a16="http://schemas.microsoft.com/office/drawing/2014/main" id="{61837A94-AB76-4E73-A62B-2F61224FB63A}"/>
                </a:ext>
              </a:extLst>
            </p:cNvPr>
            <p:cNvSpPr txBox="1"/>
            <p:nvPr/>
          </p:nvSpPr>
          <p:spPr>
            <a:xfrm>
              <a:off x="5818795" y="5167914"/>
              <a:ext cx="9155964" cy="697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10709" tIns="110709" rIns="110709" bIns="110709" numCol="1" spcCol="38100" rtlCol="0" anchor="t">
              <a:spAutoFit/>
            </a:bodyPr>
            <a:lstStyle/>
            <a:p>
              <a:pPr marL="0" marR="0" indent="0" algn="ctr" defTabSz="1087437" rtl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pl-PL" sz="3600" i="1" dirty="0">
                  <a:solidFill>
                    <a:schemeClr val="tx2">
                      <a:lumMod val="50000"/>
                    </a:schemeClr>
                  </a:solidFill>
                </a:rPr>
                <a:t>Analiza Danych Obrazowych i Multimedialnych</a:t>
              </a:r>
              <a:endParaRPr kumimoji="0" lang="pl-PL" sz="3600" b="0" i="1" u="none" strike="noStrike" cap="none" spc="0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FillTx/>
                <a:sym typeface="Times New Roman"/>
              </a:endParaRPr>
            </a:p>
          </p:txBody>
        </p:sp>
      </p:grp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AA49275-70E8-4D44-B3CF-1B3E98AA4AC5}"/>
              </a:ext>
            </a:extLst>
          </p:cNvPr>
          <p:cNvSpPr txBox="1"/>
          <p:nvPr/>
        </p:nvSpPr>
        <p:spPr>
          <a:xfrm>
            <a:off x="15013172" y="12566637"/>
            <a:ext cx="6693300" cy="1000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110709" tIns="110709" rIns="110709" bIns="110709" numCol="1" spcCol="38100" rtlCol="0" anchor="t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4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Warszawa, 0</a:t>
            </a:r>
            <a:r>
              <a:rPr lang="pl-PL" dirty="0">
                <a:solidFill>
                  <a:schemeClr val="tx2"/>
                </a:solidFill>
              </a:rPr>
              <a:t>2</a:t>
            </a:r>
            <a:r>
              <a:rPr kumimoji="0" lang="pl-PL" sz="4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rPr>
              <a:t> listopada 2026 r.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1266825" y="3810000"/>
            <a:ext cx="15875000" cy="69850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Ten szablon </a:t>
            </a:r>
            <a:r>
              <a:rPr lang="pl-PL" b="1" dirty="0"/>
              <a:t>NIE JEST </a:t>
            </a:r>
            <a:r>
              <a:rPr lang="pl-PL" dirty="0"/>
              <a:t>obowiązującym na Wydziale </a:t>
            </a:r>
            <a:r>
              <a:rPr lang="pl-PL" b="1" dirty="0"/>
              <a:t>standardem</a:t>
            </a:r>
            <a:r>
              <a:rPr lang="pl-PL" dirty="0"/>
              <a:t> prezentacji na obronę pracy dyplomowej.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Ten szablon jest </a:t>
            </a:r>
            <a:r>
              <a:rPr lang="pl-PL" b="1" dirty="0"/>
              <a:t>przykładowym</a:t>
            </a:r>
            <a:r>
              <a:rPr lang="pl-PL" dirty="0"/>
              <a:t> szablonem prezentacji, może podlegać zmianom i dostosowaniom do wymogów Komisji egzaminacyjnej, fantazji dyplomanta, pogody itd.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Zawarte w szablonie punkty należy traktować jako zalecane punkty, które warto przedstawić na obronie.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Zalecany czas trwania prezentacji – 10 minut!!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/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2800" dirty="0"/>
              <a:t>W szablonie zastosowano kolory i identyfikację wizualną Wydziału oraz obowiązujące na PW kroje czcionek.</a:t>
            </a:r>
          </a:p>
        </p:txBody>
      </p:sp>
      <p:sp>
        <p:nvSpPr>
          <p:cNvPr id="74" name="Shape 74"/>
          <p:cNvSpPr>
            <a:spLocks noGrp="1"/>
          </p:cNvSpPr>
          <p:nvPr>
            <p:ph type="sldNum" sz="quarter" idx="4294967295"/>
          </p:nvPr>
        </p:nvSpPr>
        <p:spPr>
          <a:xfrm>
            <a:off x="23906163" y="906463"/>
            <a:ext cx="477837" cy="10541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76" name="Shape 76"/>
          <p:cNvSpPr/>
          <p:nvPr/>
        </p:nvSpPr>
        <p:spPr>
          <a:xfrm>
            <a:off x="1266824" y="898525"/>
            <a:ext cx="17348202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r>
              <a:rPr lang="pl-PL" dirty="0"/>
              <a:t>Problem</a:t>
            </a:r>
            <a:endParaRPr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1266825" y="3810000"/>
            <a:ext cx="15875000" cy="6985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Tutaj należy zaprezentować motywację do podjęcia tematu pracy i wprowadzić komisję do poruszanej tematyki i przedstawić problem którym się zajmujemy w pracy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dirty="0">
              <a:solidFill>
                <a:srgbClr val="965F77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3500"/>
            </a:pPr>
            <a:r>
              <a:rPr dirty="0"/>
              <a:t>Lorem ipsum lorem ipsum lorem ipsum Lorem ipsum lorem ipsum </a:t>
            </a:r>
          </a:p>
          <a:p>
            <a:pPr>
              <a:defRPr sz="3500"/>
            </a:pPr>
            <a:r>
              <a:rPr dirty="0"/>
              <a:t>lorem ipsum  Lorem ipsum lorem ipsum lorem ipsum Lorem ipsum lorem ipsum lorem ipsum Lorem ipsum lorem ipsum lorem ipsum Lorem ipsum lorem </a:t>
            </a:r>
          </a:p>
          <a:p>
            <a:pPr>
              <a:defRPr sz="3500"/>
            </a:pPr>
            <a:r>
              <a:rPr dirty="0"/>
              <a:t>ipsum lorem ipsum Lorem ipsum lorem ipsum lorem ipsum</a:t>
            </a:r>
          </a:p>
        </p:txBody>
      </p:sp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3863300" y="906463"/>
            <a:ext cx="520700" cy="10541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r>
              <a:rPr lang="pl-PL" dirty="0"/>
              <a:t>Wejście i wyjście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4A01E-A1F3-A552-FDFA-334AF7EE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>
            <a:extLst>
              <a:ext uri="{FF2B5EF4-FFF2-40B4-BE49-F238E27FC236}">
                <a16:creationId xmlns:a16="http://schemas.microsoft.com/office/drawing/2014/main" id="{4C2CFAAA-0A3D-315B-3AF3-57AA5B344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6824" y="2349500"/>
            <a:ext cx="15875000" cy="95377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3500" i="1" dirty="0">
                <a:solidFill>
                  <a:srgbClr val="7896CF"/>
                </a:solidFill>
                <a:latin typeface="Adagio_Slab-Regular_italic"/>
                <a:sym typeface="Adagio_Slab-Regular_italic"/>
              </a:rPr>
              <a:t>Grounding DINO łączy architekturę </a:t>
            </a:r>
            <a:r>
              <a:rPr lang="pl-PL" sz="3500" i="1" dirty="0" err="1">
                <a:solidFill>
                  <a:srgbClr val="7896CF"/>
                </a:solidFill>
                <a:latin typeface="Adagio_Slab-Regular_italic"/>
                <a:sym typeface="Adagio_Slab-Regular_italic"/>
              </a:rPr>
              <a:t>transformerowego</a:t>
            </a:r>
            <a:r>
              <a:rPr lang="pl-PL" sz="3500" i="1" dirty="0">
                <a:solidFill>
                  <a:srgbClr val="7896CF"/>
                </a:solidFill>
                <a:latin typeface="Adagio_Slab-Regular_italic"/>
                <a:sym typeface="Adagio_Slab-Regular_italic"/>
              </a:rPr>
              <a:t> detektora </a:t>
            </a:r>
            <a:r>
              <a:rPr lang="pl-PL" sz="3500" b="1" i="1" dirty="0">
                <a:solidFill>
                  <a:srgbClr val="7896CF"/>
                </a:solidFill>
                <a:latin typeface="Adagio_Slab-Regular_italic"/>
                <a:sym typeface="Adagio_Slab-Regular_italic"/>
              </a:rPr>
              <a:t>DINO</a:t>
            </a:r>
            <a:r>
              <a:rPr lang="pl-PL" sz="3500" i="1" dirty="0">
                <a:solidFill>
                  <a:srgbClr val="7896CF"/>
                </a:solidFill>
                <a:latin typeface="Adagio_Slab-Regular_italic"/>
                <a:sym typeface="Adagio_Slab-Regular_italic"/>
              </a:rPr>
              <a:t> z metodyką </a:t>
            </a:r>
            <a:r>
              <a:rPr lang="pl-PL" sz="3500" b="1" i="1" dirty="0">
                <a:solidFill>
                  <a:srgbClr val="7896CF"/>
                </a:solidFill>
                <a:latin typeface="Adagio_Slab-Regular_italic"/>
                <a:sym typeface="Adagio_Slab-Regular_italic"/>
              </a:rPr>
              <a:t>GLIP</a:t>
            </a:r>
            <a:r>
              <a:rPr lang="pl-PL" sz="3500" i="1" dirty="0">
                <a:solidFill>
                  <a:srgbClr val="7896CF"/>
                </a:solidFill>
                <a:latin typeface="Adagio_Slab-Regular_italic"/>
                <a:sym typeface="Adagio_Slab-Regular_italic"/>
              </a:rPr>
              <a:t> w zakresie przeformułowania detekcji na zadanie </a:t>
            </a:r>
            <a:r>
              <a:rPr lang="pl-PL" sz="3500" i="1" dirty="0" err="1">
                <a:solidFill>
                  <a:srgbClr val="7896CF"/>
                </a:solidFill>
                <a:latin typeface="Adagio_Slab-Regular_italic"/>
                <a:sym typeface="Adagio_Slab-Regular_italic"/>
              </a:rPr>
              <a:t>phrase</a:t>
            </a:r>
            <a:r>
              <a:rPr lang="pl-PL" sz="3500" i="1" dirty="0">
                <a:solidFill>
                  <a:srgbClr val="7896CF"/>
                </a:solidFill>
                <a:latin typeface="Adagio_Slab-Regular_italic"/>
                <a:sym typeface="Adagio_Slab-Regular_italic"/>
              </a:rPr>
              <a:t> Grounding i rozwiązuje ich wspólne problemy.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dirty="0">
              <a:solidFill>
                <a:srgbClr val="965F77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lnSpc>
                <a:spcPct val="200000"/>
              </a:lnSpc>
              <a:defRPr sz="3500"/>
            </a:pPr>
            <a:r>
              <a:rPr lang="pl-PL" b="1" dirty="0"/>
              <a:t>Mechanizmy zastosowane w Grounding Dino:</a:t>
            </a:r>
          </a:p>
          <a:p>
            <a:pPr marL="1138766" lvl="1" indent="-457200">
              <a:lnSpc>
                <a:spcPct val="200000"/>
              </a:lnSpc>
              <a:buFont typeface="Arial" panose="020B0604020202020204" pitchFamily="34" charset="0"/>
              <a:buChar char="•"/>
              <a:defRPr sz="3500"/>
            </a:pPr>
            <a:r>
              <a:rPr lang="pl-PL" dirty="0"/>
              <a:t>Open-set </a:t>
            </a:r>
            <a:r>
              <a:rPr lang="pl-PL" dirty="0" err="1"/>
              <a:t>object</a:t>
            </a:r>
            <a:r>
              <a:rPr lang="pl-PL" dirty="0"/>
              <a:t> </a:t>
            </a:r>
            <a:r>
              <a:rPr lang="pl-PL" dirty="0" err="1"/>
              <a:t>detection</a:t>
            </a:r>
            <a:endParaRPr lang="pl-PL" dirty="0"/>
          </a:p>
          <a:p>
            <a:pPr marL="1138766" lvl="1" indent="-457200">
              <a:lnSpc>
                <a:spcPct val="200000"/>
              </a:lnSpc>
              <a:buFont typeface="Arial" panose="020B0604020202020204" pitchFamily="34" charset="0"/>
              <a:buChar char="•"/>
              <a:defRPr sz="3500"/>
            </a:pPr>
            <a:r>
              <a:rPr lang="pl-PL" dirty="0" err="1"/>
              <a:t>Grounded</a:t>
            </a:r>
            <a:r>
              <a:rPr lang="pl-PL" dirty="0"/>
              <a:t> </a:t>
            </a:r>
            <a:r>
              <a:rPr lang="pl-PL" dirty="0" err="1"/>
              <a:t>Pre</a:t>
            </a:r>
            <a:r>
              <a:rPr lang="pl-PL" dirty="0"/>
              <a:t>-Training</a:t>
            </a:r>
          </a:p>
          <a:p>
            <a:pPr marL="1138766" lvl="1" indent="-457200">
              <a:lnSpc>
                <a:spcPct val="200000"/>
              </a:lnSpc>
              <a:buFont typeface="Arial" panose="020B0604020202020204" pitchFamily="34" charset="0"/>
              <a:buChar char="•"/>
              <a:defRPr sz="3500"/>
            </a:pPr>
            <a:r>
              <a:rPr lang="pl-PL" dirty="0" err="1"/>
              <a:t>Sub-sentence</a:t>
            </a:r>
            <a:r>
              <a:rPr lang="pl-PL" dirty="0"/>
              <a:t> </a:t>
            </a:r>
            <a:r>
              <a:rPr lang="pl-PL" dirty="0" err="1"/>
              <a:t>text</a:t>
            </a:r>
            <a:r>
              <a:rPr lang="pl-PL" dirty="0"/>
              <a:t> </a:t>
            </a:r>
            <a:r>
              <a:rPr lang="pl-PL" dirty="0" err="1"/>
              <a:t>representation</a:t>
            </a:r>
            <a:endParaRPr lang="pl-PL" dirty="0"/>
          </a:p>
          <a:p>
            <a:pPr marL="1138766" lvl="1" indent="-457200">
              <a:lnSpc>
                <a:spcPct val="200000"/>
              </a:lnSpc>
              <a:buFont typeface="Arial" panose="020B0604020202020204" pitchFamily="34" charset="0"/>
              <a:buChar char="•"/>
              <a:defRPr sz="3500"/>
            </a:pPr>
            <a:r>
              <a:rPr lang="pl-PL" dirty="0" err="1"/>
              <a:t>Tight</a:t>
            </a:r>
            <a:r>
              <a:rPr lang="pl-PL" dirty="0"/>
              <a:t>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fusion</a:t>
            </a:r>
            <a:endParaRPr lang="pl-PL" dirty="0"/>
          </a:p>
          <a:p>
            <a:pPr marL="1138766" lvl="1" indent="-457200">
              <a:lnSpc>
                <a:spcPct val="200000"/>
              </a:lnSpc>
              <a:buFont typeface="Arial" panose="020B0604020202020204" pitchFamily="34" charset="0"/>
              <a:buChar char="•"/>
              <a:defRPr sz="3500"/>
            </a:pPr>
            <a:r>
              <a:rPr lang="pl-PL" dirty="0"/>
              <a:t>Language-</a:t>
            </a:r>
            <a:r>
              <a:rPr lang="pl-PL" dirty="0" err="1"/>
              <a:t>Guided</a:t>
            </a:r>
            <a:r>
              <a:rPr lang="pl-PL" dirty="0"/>
              <a:t> Query </a:t>
            </a:r>
            <a:r>
              <a:rPr lang="pl-PL" dirty="0" err="1"/>
              <a:t>Selection</a:t>
            </a:r>
            <a:endParaRPr lang="pl-PL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  <a:defRPr sz="3500"/>
            </a:pPr>
            <a:endParaRPr lang="pl-PL" dirty="0"/>
          </a:p>
          <a:p>
            <a:pPr marL="457200" indent="-457200">
              <a:buFont typeface="Arial" panose="020B0604020202020204" pitchFamily="34" charset="0"/>
              <a:buChar char="•"/>
              <a:defRPr sz="3500"/>
            </a:pPr>
            <a:endParaRPr dirty="0"/>
          </a:p>
        </p:txBody>
      </p:sp>
      <p:sp>
        <p:nvSpPr>
          <p:cNvPr id="80" name="Shape 80">
            <a:extLst>
              <a:ext uri="{FF2B5EF4-FFF2-40B4-BE49-F238E27FC236}">
                <a16:creationId xmlns:a16="http://schemas.microsoft.com/office/drawing/2014/main" id="{46425295-F83F-4016-8B3C-0D7016C462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3863300" y="906463"/>
            <a:ext cx="520700" cy="1054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82" name="Shape 82">
            <a:extLst>
              <a:ext uri="{FF2B5EF4-FFF2-40B4-BE49-F238E27FC236}">
                <a16:creationId xmlns:a16="http://schemas.microsoft.com/office/drawing/2014/main" id="{65E84B7D-748F-E0EE-902A-92080C5899A6}"/>
              </a:ext>
            </a:extLst>
          </p:cNvPr>
          <p:cNvSpPr/>
          <p:nvPr/>
        </p:nvSpPr>
        <p:spPr>
          <a:xfrm>
            <a:off x="1266824" y="898525"/>
            <a:ext cx="17348202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r>
              <a:rPr lang="pl-PL" dirty="0"/>
              <a:t>Cechy Grounding </a:t>
            </a:r>
            <a:r>
              <a:rPr lang="pl-PL" dirty="0" err="1"/>
              <a:t>DINOzar</a:t>
            </a:r>
            <a:endParaRPr dirty="0"/>
          </a:p>
        </p:txBody>
      </p:sp>
      <p:grpSp>
        <p:nvGrpSpPr>
          <p:cNvPr id="5" name="Grupa 4">
            <a:extLst>
              <a:ext uri="{FF2B5EF4-FFF2-40B4-BE49-F238E27FC236}">
                <a16:creationId xmlns:a16="http://schemas.microsoft.com/office/drawing/2014/main" id="{BED7C42D-D589-CD33-674A-E2339F9D2387}"/>
              </a:ext>
            </a:extLst>
          </p:cNvPr>
          <p:cNvGrpSpPr/>
          <p:nvPr/>
        </p:nvGrpSpPr>
        <p:grpSpPr>
          <a:xfrm>
            <a:off x="9754747" y="6560998"/>
            <a:ext cx="8860279" cy="3339053"/>
            <a:chOff x="9846821" y="4617898"/>
            <a:chExt cx="8860279" cy="3339053"/>
          </a:xfrm>
        </p:grpSpPr>
        <p:pic>
          <p:nvPicPr>
            <p:cNvPr id="3" name="Obraz 2">
              <a:extLst>
                <a:ext uri="{FF2B5EF4-FFF2-40B4-BE49-F238E27FC236}">
                  <a16:creationId xmlns:a16="http://schemas.microsoft.com/office/drawing/2014/main" id="{B8D710C4-177E-A84D-7EEA-BD1610E69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6821" y="4617898"/>
              <a:ext cx="8860279" cy="2793060"/>
            </a:xfrm>
            <a:prstGeom prst="roundRect">
              <a:avLst>
                <a:gd name="adj" fmla="val 10259"/>
              </a:avLst>
            </a:prstGeom>
            <a:ln w="57150">
              <a:solidFill>
                <a:srgbClr val="7896CF"/>
              </a:solidFill>
            </a:ln>
          </p:spPr>
        </p:pic>
        <p:sp>
          <p:nvSpPr>
            <p:cNvPr id="4" name="pole tekstowe 3">
              <a:extLst>
                <a:ext uri="{FF2B5EF4-FFF2-40B4-BE49-F238E27FC236}">
                  <a16:creationId xmlns:a16="http://schemas.microsoft.com/office/drawing/2014/main" id="{11AF2D47-C799-95CB-F25E-26C7D79B0B10}"/>
                </a:ext>
              </a:extLst>
            </p:cNvPr>
            <p:cNvSpPr txBox="1"/>
            <p:nvPr/>
          </p:nvSpPr>
          <p:spPr>
            <a:xfrm>
              <a:off x="12175110" y="7251700"/>
              <a:ext cx="4325364" cy="705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10709" tIns="110709" rIns="110709" bIns="110709" numCol="1" spcCol="38100" rtlCol="0" anchor="t">
              <a:spAutoFit/>
            </a:bodyPr>
            <a:lstStyle/>
            <a:p>
              <a:pPr marL="0" marR="0" indent="0" algn="l" defTabSz="1087437" rtl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l-PL" sz="2400" b="0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FillTx/>
                  <a:latin typeface="Adagio_Slab"/>
                  <a:sym typeface="Times New Roman"/>
                </a:rPr>
                <a:t>Porównanie reprezentacji tekstu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7053119"/>
      </p:ext>
    </p:extLst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784224" y="2392855"/>
            <a:ext cx="8151022" cy="100181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dirty="0"/>
              <a:t>Architektura dual-</a:t>
            </a:r>
            <a:r>
              <a:rPr lang="pl-PL" dirty="0" err="1"/>
              <a:t>encoder</a:t>
            </a:r>
            <a:r>
              <a:rPr lang="pl-PL" dirty="0"/>
              <a:t> &amp; single-</a:t>
            </a:r>
            <a:r>
              <a:rPr lang="pl-PL" dirty="0" err="1"/>
              <a:t>decoder</a:t>
            </a:r>
            <a:endParaRPr lang="pl-PL" dirty="0"/>
          </a:p>
        </p:txBody>
      </p:sp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3863300" y="906463"/>
            <a:ext cx="520700" cy="10541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69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marL="0" marR="0" lvl="0" indent="0" algn="l" defTabSz="1087437" rtl="0" eaLnBrk="1" fontAlgn="auto" latinLnBrk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7000" b="0" i="0" u="none" strike="noStrike" kern="0" cap="none" spc="0" normalizeH="0" baseline="0" noProof="0" dirty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Adagio_Slab"/>
                <a:sym typeface="Adagio_Slab"/>
              </a:rPr>
              <a:t>Główne komponenty</a:t>
            </a:r>
            <a:endParaRPr kumimoji="0" sz="70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C52B5C21-F125-72F1-689D-41EFB9421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1757286"/>
            <a:ext cx="13608846" cy="9440692"/>
          </a:xfrm>
          <a:prstGeom prst="roundRect">
            <a:avLst>
              <a:gd name="adj" fmla="val 10394"/>
            </a:avLst>
          </a:prstGeom>
          <a:ln w="57150">
            <a:solidFill>
              <a:srgbClr val="7896CF"/>
            </a:solidFill>
          </a:ln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927CBD9B-B82D-4042-A9FA-58408183A052}"/>
              </a:ext>
            </a:extLst>
          </p:cNvPr>
          <p:cNvSpPr txBox="1"/>
          <p:nvPr/>
        </p:nvSpPr>
        <p:spPr>
          <a:xfrm>
            <a:off x="291835" y="3750268"/>
            <a:ext cx="8643411" cy="71085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lvl="0"/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Ekstrakcja cech</a:t>
            </a:r>
            <a:endParaRPr lang="pl-PL" sz="3200" dirty="0">
              <a:solidFill>
                <a:schemeClr val="tx2">
                  <a:lumMod val="75000"/>
                </a:schemeClr>
              </a:solidFill>
              <a:latin typeface="Adagio_Slab"/>
            </a:endParaRPr>
          </a:p>
          <a:p>
            <a:pPr lvl="3"/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Obraz:</a:t>
            </a:r>
            <a:r>
              <a:rPr lang="pl-PL" sz="3200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 </a:t>
            </a:r>
            <a:r>
              <a:rPr lang="pl-PL" sz="3200" i="1" dirty="0" err="1">
                <a:solidFill>
                  <a:schemeClr val="tx2">
                    <a:lumMod val="75000"/>
                  </a:schemeClr>
                </a:solidFill>
                <a:latin typeface="Adagio_Slab"/>
              </a:rPr>
              <a:t>Swin</a:t>
            </a:r>
            <a:r>
              <a:rPr lang="pl-PL" sz="3200" i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 Transformer</a:t>
            </a:r>
            <a:endParaRPr lang="pl-PL" sz="3200" dirty="0">
              <a:solidFill>
                <a:schemeClr val="tx2">
                  <a:lumMod val="75000"/>
                </a:schemeClr>
              </a:solidFill>
              <a:latin typeface="Adagio_Slab"/>
            </a:endParaRPr>
          </a:p>
          <a:p>
            <a:pPr lvl="3"/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Tekst:</a:t>
            </a:r>
            <a:r>
              <a:rPr lang="pl-PL" sz="3200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 </a:t>
            </a:r>
            <a:r>
              <a:rPr lang="pl-PL" sz="3200" i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BERT</a:t>
            </a:r>
            <a:endParaRPr lang="pl-PL" sz="3200" dirty="0">
              <a:solidFill>
                <a:schemeClr val="tx2">
                  <a:lumMod val="75000"/>
                </a:schemeClr>
              </a:solidFill>
              <a:latin typeface="Adagio_Slab"/>
            </a:endParaRPr>
          </a:p>
          <a:p>
            <a:pPr lvl="0"/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3 Fazy ścisłej fuzji</a:t>
            </a:r>
            <a:endParaRPr lang="pl-PL" sz="3200" dirty="0">
              <a:solidFill>
                <a:schemeClr val="tx2">
                  <a:lumMod val="75000"/>
                </a:schemeClr>
              </a:solidFill>
              <a:latin typeface="Adagio_Slab"/>
            </a:endParaRPr>
          </a:p>
          <a:p>
            <a:pPr lvl="1"/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Faza 1 - </a:t>
            </a:r>
            <a:r>
              <a:rPr lang="pl-PL" sz="3200" b="1" i="1" dirty="0" err="1">
                <a:solidFill>
                  <a:schemeClr val="tx2">
                    <a:lumMod val="75000"/>
                  </a:schemeClr>
                </a:solidFill>
                <a:latin typeface="Adagio_Slab"/>
              </a:rPr>
              <a:t>Feature</a:t>
            </a:r>
            <a:r>
              <a:rPr lang="pl-PL" sz="3200" b="1" i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 </a:t>
            </a:r>
            <a:r>
              <a:rPr lang="pl-PL" sz="3200" b="1" i="1" dirty="0" err="1">
                <a:solidFill>
                  <a:schemeClr val="tx2">
                    <a:lumMod val="75000"/>
                  </a:schemeClr>
                </a:solidFill>
                <a:latin typeface="Adagio_Slab"/>
              </a:rPr>
              <a:t>Enhancer</a:t>
            </a:r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:</a:t>
            </a:r>
            <a:endParaRPr lang="pl-PL" sz="3200" dirty="0">
              <a:solidFill>
                <a:schemeClr val="tx2">
                  <a:lumMod val="75000"/>
                </a:schemeClr>
              </a:solidFill>
              <a:latin typeface="Adagio_Slab"/>
            </a:endParaRPr>
          </a:p>
          <a:p>
            <a:pPr lvl="3"/>
            <a:r>
              <a:rPr lang="pl-PL" sz="3200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	Dwukierunkowa uwaga krzyżowa</a:t>
            </a:r>
          </a:p>
          <a:p>
            <a:pPr lvl="3"/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Faza 2 - </a:t>
            </a:r>
            <a:r>
              <a:rPr lang="pl-PL" sz="3200" b="1" i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Language-</a:t>
            </a:r>
            <a:r>
              <a:rPr lang="pl-PL" sz="3200" b="1" i="1" dirty="0" err="1">
                <a:solidFill>
                  <a:schemeClr val="tx2">
                    <a:lumMod val="75000"/>
                  </a:schemeClr>
                </a:solidFill>
                <a:latin typeface="Adagio_Slab"/>
              </a:rPr>
              <a:t>Guided</a:t>
            </a:r>
            <a:r>
              <a:rPr lang="pl-PL" sz="3200" b="1" i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 Query </a:t>
            </a:r>
            <a:r>
              <a:rPr lang="pl-PL" sz="3200" b="1" i="1" dirty="0" err="1">
                <a:solidFill>
                  <a:schemeClr val="tx2">
                    <a:lumMod val="75000"/>
                  </a:schemeClr>
                </a:solidFill>
                <a:latin typeface="Adagio_Slab"/>
              </a:rPr>
              <a:t>Selection</a:t>
            </a:r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:</a:t>
            </a:r>
            <a:endParaRPr lang="pl-PL" sz="3200" dirty="0">
              <a:solidFill>
                <a:schemeClr val="tx2">
                  <a:lumMod val="75000"/>
                </a:schemeClr>
              </a:solidFill>
              <a:latin typeface="Adagio_Slab"/>
            </a:endParaRPr>
          </a:p>
          <a:p>
            <a:pPr lvl="2"/>
            <a:r>
              <a:rPr lang="pl-PL" sz="3200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	Wybór kwerend sterowany językiem. </a:t>
            </a:r>
          </a:p>
          <a:p>
            <a:pPr lvl="1"/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Faza 3 - </a:t>
            </a:r>
            <a:r>
              <a:rPr lang="pl-PL" sz="3200" b="1" i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Cross-</a:t>
            </a:r>
            <a:r>
              <a:rPr lang="pl-PL" sz="3200" b="1" i="1" dirty="0" err="1">
                <a:solidFill>
                  <a:schemeClr val="tx2">
                    <a:lumMod val="75000"/>
                  </a:schemeClr>
                </a:solidFill>
                <a:latin typeface="Adagio_Slab"/>
              </a:rPr>
              <a:t>Modality</a:t>
            </a:r>
            <a:r>
              <a:rPr lang="pl-PL" sz="3200" b="1" i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 </a:t>
            </a:r>
            <a:r>
              <a:rPr lang="pl-PL" sz="3200" b="1" i="1" dirty="0" err="1">
                <a:solidFill>
                  <a:schemeClr val="tx2">
                    <a:lumMod val="75000"/>
                  </a:schemeClr>
                </a:solidFill>
                <a:latin typeface="Adagio_Slab"/>
              </a:rPr>
              <a:t>Decoder</a:t>
            </a:r>
            <a:r>
              <a:rPr lang="pl-PL" sz="3200" b="1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:</a:t>
            </a:r>
            <a:endParaRPr lang="pl-PL" sz="3200" dirty="0">
              <a:solidFill>
                <a:schemeClr val="tx2">
                  <a:lumMod val="75000"/>
                </a:schemeClr>
              </a:solidFill>
              <a:latin typeface="Adagio_Slab"/>
            </a:endParaRPr>
          </a:p>
          <a:p>
            <a:pPr lvl="2"/>
            <a:r>
              <a:rPr lang="pl-PL" sz="3200" dirty="0">
                <a:solidFill>
                  <a:schemeClr val="tx2">
                    <a:lumMod val="75000"/>
                  </a:schemeClr>
                </a:solidFill>
                <a:latin typeface="Adagio_Slab"/>
              </a:rPr>
              <a:t>		Uszczegóławianie propozycji 			obiektów w warstwach dekodera.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94AC01E-B69C-0A9A-2393-FBDE7D1B735E}"/>
              </a:ext>
            </a:extLst>
          </p:cNvPr>
          <p:cNvSpPr txBox="1"/>
          <p:nvPr/>
        </p:nvSpPr>
        <p:spPr>
          <a:xfrm>
            <a:off x="12500936" y="11118356"/>
            <a:ext cx="7428374" cy="7052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l-PL" sz="2400" dirty="0">
                <a:solidFill>
                  <a:schemeClr val="bg2">
                    <a:lumMod val="75000"/>
                  </a:schemeClr>
                </a:solidFill>
                <a:latin typeface="Adagio_Slab"/>
              </a:rPr>
              <a:t>Wizualizacja architektury modelu Grounding DINO</a:t>
            </a:r>
            <a:endParaRPr kumimoji="0" lang="pl-PL" sz="2400" b="0" i="0" u="none" strike="noStrike" cap="none" spc="0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FillTx/>
              <a:latin typeface="Adagio_Slab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354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idx="1"/>
          </p:nvPr>
        </p:nvSpPr>
        <p:spPr>
          <a:xfrm>
            <a:off x="1266824" y="3810000"/>
            <a:ext cx="14918056" cy="6985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i="1" dirty="0">
                <a:sym typeface="Adagio_Slab-Regular_italic"/>
              </a:rPr>
              <a:t>„Grounding DINO: </a:t>
            </a:r>
            <a:r>
              <a:rPr lang="pl-PL" sz="4400" i="1" dirty="0" err="1">
                <a:sym typeface="Adagio_Slab-Regular_italic"/>
              </a:rPr>
              <a:t>Marrying</a:t>
            </a:r>
            <a:r>
              <a:rPr lang="pl-PL" sz="4400" i="1" dirty="0">
                <a:sym typeface="Adagio_Slab-Regular_italic"/>
              </a:rPr>
              <a:t> DINO with </a:t>
            </a:r>
            <a:r>
              <a:rPr lang="pl-PL" sz="4400" i="1" dirty="0" err="1">
                <a:sym typeface="Adagio_Slab-Regular_italic"/>
              </a:rPr>
              <a:t>Grounded</a:t>
            </a:r>
            <a:r>
              <a:rPr lang="pl-PL" sz="4400" i="1" dirty="0">
                <a:sym typeface="Adagio_Slab-Regular_italic"/>
              </a:rPr>
              <a:t> </a:t>
            </a:r>
            <a:r>
              <a:rPr lang="pl-PL" sz="4400" i="1" dirty="0" err="1">
                <a:sym typeface="Adagio_Slab-Regular_italic"/>
              </a:rPr>
              <a:t>Pre</a:t>
            </a:r>
            <a:r>
              <a:rPr lang="pl-PL" sz="4400" i="1" dirty="0">
                <a:sym typeface="Adagio_Slab-Regular_italic"/>
              </a:rPr>
              <a:t>-Training for Open-Set Object </a:t>
            </a:r>
            <a:r>
              <a:rPr lang="pl-PL" sz="4400" i="1" dirty="0" err="1">
                <a:sym typeface="Adagio_Slab-Regular_italic"/>
              </a:rPr>
              <a:t>Detection</a:t>
            </a:r>
            <a:r>
              <a:rPr lang="pl-PL" sz="4400" i="1" dirty="0">
                <a:sym typeface="Adagio_Slab-Regular_italic"/>
              </a:rPr>
              <a:t>”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i="1" dirty="0" err="1">
                <a:solidFill>
                  <a:schemeClr val="tx2"/>
                </a:solidFill>
                <a:sym typeface="Adagio_Slab-Regular_italic"/>
              </a:rPr>
              <a:t>Shilong</a:t>
            </a:r>
            <a:r>
              <a:rPr lang="pl-PL" i="1" dirty="0">
                <a:solidFill>
                  <a:schemeClr val="tx2"/>
                </a:solidFill>
                <a:sym typeface="Adagio_Slab-Regular_italic"/>
              </a:rPr>
              <a:t> </a:t>
            </a:r>
            <a:r>
              <a:rPr lang="pl-PL" i="1" dirty="0" err="1">
                <a:solidFill>
                  <a:schemeClr val="tx2"/>
                </a:solidFill>
                <a:sym typeface="Adagio_Slab-Regular_italic"/>
              </a:rPr>
              <a:t>Liu</a:t>
            </a:r>
            <a:r>
              <a:rPr lang="pl-PL" i="1" dirty="0">
                <a:solidFill>
                  <a:schemeClr val="tx2"/>
                </a:solidFill>
                <a:sym typeface="Adagio_Slab-Regular_italic"/>
              </a:rPr>
              <a:t> , </a:t>
            </a:r>
            <a:r>
              <a:rPr lang="pl-PL" i="1" dirty="0" err="1">
                <a:solidFill>
                  <a:schemeClr val="tx2"/>
                </a:solidFill>
                <a:sym typeface="Adagio_Slab-Regular_italic"/>
              </a:rPr>
              <a:t>Zhaoyang</a:t>
            </a:r>
            <a:r>
              <a:rPr lang="pl-PL" i="1" dirty="0">
                <a:solidFill>
                  <a:schemeClr val="tx2"/>
                </a:solidFill>
                <a:sym typeface="Adagio_Slab-Regular_italic"/>
              </a:rPr>
              <a:t> </a:t>
            </a:r>
            <a:r>
              <a:rPr lang="pl-PL" i="1" dirty="0" err="1">
                <a:solidFill>
                  <a:schemeClr val="tx2"/>
                </a:solidFill>
                <a:sym typeface="Adagio_Slab-Regular_italic"/>
              </a:rPr>
              <a:t>Zeng</a:t>
            </a:r>
            <a:r>
              <a:rPr lang="pl-PL" i="1" dirty="0">
                <a:solidFill>
                  <a:schemeClr val="tx2"/>
                </a:solidFill>
                <a:sym typeface="Adagio_Slab-Regular_italic"/>
              </a:rPr>
              <a:t> , </a:t>
            </a:r>
            <a:r>
              <a:rPr lang="pl-PL" i="1" dirty="0" err="1">
                <a:solidFill>
                  <a:schemeClr val="tx2"/>
                </a:solidFill>
                <a:sym typeface="Adagio_Slab-Regular_italic"/>
              </a:rPr>
              <a:t>Tianhe</a:t>
            </a:r>
            <a:r>
              <a:rPr lang="pl-PL" i="1" dirty="0">
                <a:solidFill>
                  <a:schemeClr val="tx2"/>
                </a:solidFill>
                <a:sym typeface="Adagio_Slab-Regular_italic"/>
              </a:rPr>
              <a:t> Ren et al. </a:t>
            </a:r>
            <a:r>
              <a:rPr lang="pl-PL" sz="28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dagio_Slab-Regular_italic"/>
              </a:rPr>
              <a:t>(</a:t>
            </a:r>
            <a:r>
              <a:rPr lang="pl-PL" sz="2800" i="1" dirty="0" err="1">
                <a:solidFill>
                  <a:schemeClr val="tx2"/>
                </a:solidFill>
                <a:latin typeface="+mj-lt"/>
                <a:ea typeface="+mj-ea"/>
                <a:cs typeface="+mj-cs"/>
                <a:sym typeface="Adagio_Slab-Regular_italic"/>
              </a:rPr>
              <a:t>arXiv</a:t>
            </a:r>
            <a:r>
              <a:rPr lang="pl-PL" sz="28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dagio_Slab-Regular_italic"/>
              </a:rPr>
              <a:t>: </a:t>
            </a:r>
            <a:r>
              <a:rPr lang="pl-PL" sz="28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dagio_Slab-Regular_ital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2303.05499</a:t>
            </a:r>
            <a:r>
              <a:rPr lang="pl-PL" sz="28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Adagio_Slab-Regular_italic"/>
              </a:rPr>
              <a:t>)</a:t>
            </a:r>
            <a:endParaRPr lang="pl-PL" sz="2800" i="1" dirty="0">
              <a:solidFill>
                <a:schemeClr val="tx2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endParaRPr lang="pl-PL" sz="3500" i="1" dirty="0">
              <a:solidFill>
                <a:schemeClr val="tx2"/>
              </a:solidFill>
              <a:latin typeface="+mj-lt"/>
              <a:ea typeface="+mj-ea"/>
              <a:cs typeface="+mj-cs"/>
              <a:sym typeface="Helvetica"/>
            </a:endParaRP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3500" b="1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Kod:</a:t>
            </a:r>
            <a:endParaRPr lang="pl-PL" sz="3500" i="1" dirty="0">
              <a:solidFill>
                <a:schemeClr val="tx2"/>
              </a:solidFill>
              <a:latin typeface="+mj-lt"/>
              <a:ea typeface="+mj-ea"/>
              <a:cs typeface="+mj-cs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oficjalne repozytorium</a:t>
            </a:r>
          </a:p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	(</a:t>
            </a: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https://github.com/IDEA-Research/GroundingDINO/tree/main</a:t>
            </a: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biblioteka </a:t>
            </a:r>
            <a:r>
              <a:rPr lang="pl-PL" sz="3500" i="1" dirty="0" err="1">
                <a:solidFill>
                  <a:schemeClr val="tx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Helvetica"/>
              </a:rPr>
              <a:t>transformers</a:t>
            </a: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 w </a:t>
            </a:r>
            <a:r>
              <a:rPr lang="pl-PL" sz="3500" i="1" dirty="0" err="1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HuggingFace</a:t>
            </a: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 	(</a:t>
            </a: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https://huggingface.co/docs/transformers/model_doc/grounding-dino</a:t>
            </a:r>
            <a:r>
              <a:rPr lang="pl-PL" sz="3500" i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Helvetica"/>
              </a:rPr>
              <a:t>)</a:t>
            </a:r>
            <a:endParaRPr lang="pl-PL" sz="3500" i="1" dirty="0">
              <a:solidFill>
                <a:schemeClr val="tx2"/>
              </a:solidFill>
              <a:sym typeface="Adagio_Slab-Regular_italic"/>
            </a:endParaRPr>
          </a:p>
        </p:txBody>
      </p:sp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3863300" y="906463"/>
            <a:ext cx="520700" cy="10541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1219202" y="945077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>
              <a:defRPr sz="3500"/>
            </a:pPr>
            <a:r>
              <a:rPr lang="pl-PL" sz="7200" dirty="0"/>
              <a:t>Publikacja i repozytorium	</a:t>
            </a:r>
          </a:p>
        </p:txBody>
      </p:sp>
    </p:spTree>
    <p:extLst>
      <p:ext uri="{BB962C8B-B14F-4D97-AF65-F5344CB8AC3E}">
        <p14:creationId xmlns:p14="http://schemas.microsoft.com/office/powerpoint/2010/main" val="394079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3863300" y="906463"/>
            <a:ext cx="520700" cy="10541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lvl="0">
              <a:defRPr sz="3500"/>
            </a:pPr>
            <a:r>
              <a:rPr lang="pl-PL" sz="7200" dirty="0"/>
              <a:t>Przykładowe zastosowania</a:t>
            </a:r>
            <a:endParaRPr kumimoji="0" lang="pl-PL" sz="72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  <p:grpSp>
        <p:nvGrpSpPr>
          <p:cNvPr id="21" name="Grupa 20">
            <a:extLst>
              <a:ext uri="{FF2B5EF4-FFF2-40B4-BE49-F238E27FC236}">
                <a16:creationId xmlns:a16="http://schemas.microsoft.com/office/drawing/2014/main" id="{74EC9AD1-5432-8B5E-C5D7-D1D91DBC1B86}"/>
              </a:ext>
            </a:extLst>
          </p:cNvPr>
          <p:cNvGrpSpPr/>
          <p:nvPr/>
        </p:nvGrpSpPr>
        <p:grpSpPr>
          <a:xfrm>
            <a:off x="1266824" y="3112442"/>
            <a:ext cx="21850351" cy="7491115"/>
            <a:chOff x="1266824" y="2493818"/>
            <a:chExt cx="21850351" cy="7491115"/>
          </a:xfrm>
        </p:grpSpPr>
        <p:sp>
          <p:nvSpPr>
            <p:cNvPr id="3" name="Prostokąt zaokrąglony 2">
              <a:extLst>
                <a:ext uri="{FF2B5EF4-FFF2-40B4-BE49-F238E27FC236}">
                  <a16:creationId xmlns:a16="http://schemas.microsoft.com/office/drawing/2014/main" id="{B31AEE6F-FDEA-9326-02BC-D612960E2D76}"/>
                </a:ext>
              </a:extLst>
            </p:cNvPr>
            <p:cNvSpPr/>
            <p:nvPr/>
          </p:nvSpPr>
          <p:spPr>
            <a:xfrm>
              <a:off x="8645236" y="2493818"/>
              <a:ext cx="7093527" cy="7398000"/>
            </a:xfrm>
            <a:prstGeom prst="roundRect">
              <a:avLst/>
            </a:prstGeom>
            <a:solidFill>
              <a:srgbClr val="96BCFF">
                <a:alpha val="25098"/>
              </a:srgbClr>
            </a:solidFill>
            <a:ln w="25400" cap="flat">
              <a:solidFill>
                <a:srgbClr val="7896CF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10709" tIns="110709" rIns="110709" bIns="110709" numCol="1" spcCol="38100" rtlCol="0" anchor="t">
              <a:spAutoFit/>
            </a:bodyPr>
            <a:lstStyle/>
            <a:p>
              <a:pPr marL="0" marR="0" indent="0" algn="l" defTabSz="1087437" rtl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l-PL" sz="4000" b="0" i="0" u="none" strike="noStrike" cap="none" spc="0" normalizeH="0" baseline="0">
                <a:ln>
                  <a:noFill/>
                </a:ln>
                <a:solidFill>
                  <a:srgbClr val="6ABA9C"/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4" name="Prostokąt zaokrąglony 3">
              <a:extLst>
                <a:ext uri="{FF2B5EF4-FFF2-40B4-BE49-F238E27FC236}">
                  <a16:creationId xmlns:a16="http://schemas.microsoft.com/office/drawing/2014/main" id="{A02BF6C3-F94C-4751-8070-A4B50F04B30A}"/>
                </a:ext>
              </a:extLst>
            </p:cNvPr>
            <p:cNvSpPr/>
            <p:nvPr/>
          </p:nvSpPr>
          <p:spPr>
            <a:xfrm>
              <a:off x="16023648" y="2493818"/>
              <a:ext cx="7093527" cy="7398000"/>
            </a:xfrm>
            <a:prstGeom prst="roundRect">
              <a:avLst/>
            </a:prstGeom>
            <a:solidFill>
              <a:srgbClr val="E6EFFF"/>
            </a:solidFill>
            <a:ln w="25400" cap="flat">
              <a:solidFill>
                <a:srgbClr val="7896CF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10709" tIns="110709" rIns="110709" bIns="110709" numCol="1" spcCol="38100" rtlCol="0" anchor="t">
              <a:spAutoFit/>
            </a:bodyPr>
            <a:lstStyle/>
            <a:p>
              <a:pPr marL="0" marR="0" indent="0" algn="l" defTabSz="1087437" rtl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l-PL" sz="4000" b="0" i="0" u="none" strike="noStrike" cap="none" spc="0" normalizeH="0" baseline="0">
                <a:ln>
                  <a:noFill/>
                </a:ln>
                <a:solidFill>
                  <a:srgbClr val="6ABA9C"/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9" name="Prostokąt zaokrąglony 8">
              <a:extLst>
                <a:ext uri="{FF2B5EF4-FFF2-40B4-BE49-F238E27FC236}">
                  <a16:creationId xmlns:a16="http://schemas.microsoft.com/office/drawing/2014/main" id="{D97D9725-2FA3-E80B-EA8D-8A507D4CD3DA}"/>
                </a:ext>
              </a:extLst>
            </p:cNvPr>
            <p:cNvSpPr/>
            <p:nvPr/>
          </p:nvSpPr>
          <p:spPr>
            <a:xfrm>
              <a:off x="1266824" y="2493818"/>
              <a:ext cx="7093527" cy="7398000"/>
            </a:xfrm>
            <a:prstGeom prst="roundRect">
              <a:avLst/>
            </a:prstGeom>
            <a:solidFill>
              <a:srgbClr val="96BCFF">
                <a:alpha val="25098"/>
              </a:srgbClr>
            </a:solidFill>
            <a:ln w="25400" cap="flat">
              <a:solidFill>
                <a:srgbClr val="7896CF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10709" tIns="110709" rIns="110709" bIns="110709" numCol="1" spcCol="38100" rtlCol="0" anchor="t">
              <a:spAutoFit/>
            </a:bodyPr>
            <a:lstStyle/>
            <a:p>
              <a:pPr marL="0" marR="0" indent="0" algn="l" defTabSz="1087437" rtl="0" fontAlgn="auto" latinLnBrk="0" hangingPunc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l-PL" sz="4000" b="0" i="0" u="none" strike="noStrike" cap="none" spc="0" normalizeH="0" baseline="0">
                <a:ln>
                  <a:noFill/>
                </a:ln>
                <a:solidFill>
                  <a:srgbClr val="6ABA9C"/>
                </a:solidFill>
                <a:effectLst/>
                <a:uFillTx/>
                <a:latin typeface="+mn-lt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10" name="Shape 81">
              <a:extLst>
                <a:ext uri="{FF2B5EF4-FFF2-40B4-BE49-F238E27FC236}">
                  <a16:creationId xmlns:a16="http://schemas.microsoft.com/office/drawing/2014/main" id="{AE1EC33F-FDFA-6504-9721-886F4D4C985D}"/>
                </a:ext>
              </a:extLst>
            </p:cNvPr>
            <p:cNvSpPr txBox="1">
              <a:spLocks/>
            </p:cNvSpPr>
            <p:nvPr/>
          </p:nvSpPr>
          <p:spPr>
            <a:xfrm>
              <a:off x="2339487" y="2923309"/>
              <a:ext cx="4940546" cy="81049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normAutofit/>
            </a:bodyPr>
            <a:lstStyle>
              <a:lvl1pPr marL="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1pPr>
              <a:lvl2pPr marL="681566" marR="0" indent="-338666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2pPr>
              <a:lvl3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3pPr>
              <a:lvl4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4pPr>
              <a:lvl5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5pPr>
              <a:lvl6pPr marL="8001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6pPr>
              <a:lvl7pPr marL="12573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7pPr>
              <a:lvl8pPr marL="17145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8pPr>
              <a:lvl9pPr marL="21717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9pPr>
            </a:lstStyle>
            <a:p>
              <a:pPr hangingPunct="1">
                <a:defRPr sz="3500" i="1">
                  <a:solidFill>
                    <a:srgbClr val="7896CF"/>
                  </a:solidFill>
                  <a:latin typeface="Adagio_Slab-Regular_italic"/>
                  <a:ea typeface="Adagio_Slab-Regular_italic"/>
                  <a:cs typeface="Adagio_Slab-Regular_italic"/>
                  <a:sym typeface="Adagio_Slab-Regular_italic"/>
                </a:defRPr>
              </a:pPr>
              <a:r>
                <a:rPr lang="pl-PL" sz="3600" b="1" dirty="0">
                  <a:solidFill>
                    <a:schemeClr val="tx2"/>
                  </a:solidFill>
                  <a:sym typeface="Adagio_Slab-Regular_italic"/>
                </a:rPr>
                <a:t>Zautomatyzowana edycja</a:t>
              </a:r>
            </a:p>
          </p:txBody>
        </p:sp>
        <p:sp>
          <p:nvSpPr>
            <p:cNvPr id="11" name="Shape 81">
              <a:extLst>
                <a:ext uri="{FF2B5EF4-FFF2-40B4-BE49-F238E27FC236}">
                  <a16:creationId xmlns:a16="http://schemas.microsoft.com/office/drawing/2014/main" id="{6EA090B6-6AF6-33D9-9ED9-92934E95FFE1}"/>
                </a:ext>
              </a:extLst>
            </p:cNvPr>
            <p:cNvSpPr txBox="1">
              <a:spLocks/>
            </p:cNvSpPr>
            <p:nvPr/>
          </p:nvSpPr>
          <p:spPr>
            <a:xfrm>
              <a:off x="9721725" y="2923309"/>
              <a:ext cx="4940546" cy="81049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normAutofit/>
            </a:bodyPr>
            <a:lstStyle>
              <a:lvl1pPr marL="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1pPr>
              <a:lvl2pPr marL="681566" marR="0" indent="-338666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2pPr>
              <a:lvl3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3pPr>
              <a:lvl4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4pPr>
              <a:lvl5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5pPr>
              <a:lvl6pPr marL="8001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6pPr>
              <a:lvl7pPr marL="12573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7pPr>
              <a:lvl8pPr marL="17145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8pPr>
              <a:lvl9pPr marL="21717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9pPr>
            </a:lstStyle>
            <a:p>
              <a:r>
                <a:rPr lang="pl-PL" sz="3600" b="1" dirty="0"/>
                <a:t>Generowanie warunkowe</a:t>
              </a:r>
            </a:p>
          </p:txBody>
        </p:sp>
        <p:sp>
          <p:nvSpPr>
            <p:cNvPr id="12" name="Shape 81">
              <a:extLst>
                <a:ext uri="{FF2B5EF4-FFF2-40B4-BE49-F238E27FC236}">
                  <a16:creationId xmlns:a16="http://schemas.microsoft.com/office/drawing/2014/main" id="{9EFA4BBB-1B34-DBD7-6486-2FC79A7ED7D5}"/>
                </a:ext>
              </a:extLst>
            </p:cNvPr>
            <p:cNvSpPr txBox="1">
              <a:spLocks/>
            </p:cNvSpPr>
            <p:nvPr/>
          </p:nvSpPr>
          <p:spPr>
            <a:xfrm>
              <a:off x="17103967" y="2923309"/>
              <a:ext cx="4940546" cy="81049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normAutofit/>
            </a:bodyPr>
            <a:lstStyle>
              <a:lvl1pPr marL="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1pPr>
              <a:lvl2pPr marL="681566" marR="0" indent="-338666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2pPr>
              <a:lvl3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3pPr>
              <a:lvl4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4pPr>
              <a:lvl5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5pPr>
              <a:lvl6pPr marL="8001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6pPr>
              <a:lvl7pPr marL="12573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7pPr>
              <a:lvl8pPr marL="17145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8pPr>
              <a:lvl9pPr marL="21717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9pPr>
            </a:lstStyle>
            <a:p>
              <a:pPr hangingPunct="1">
                <a:defRPr sz="3500" i="1">
                  <a:solidFill>
                    <a:srgbClr val="7896CF"/>
                  </a:solidFill>
                  <a:latin typeface="Adagio_Slab-Regular_italic"/>
                  <a:ea typeface="Adagio_Slab-Regular_italic"/>
                  <a:cs typeface="Adagio_Slab-Regular_italic"/>
                  <a:sym typeface="Adagio_Slab-Regular_italic"/>
                </a:defRPr>
              </a:pPr>
              <a:r>
                <a:rPr lang="pl-PL" sz="3600" b="1" dirty="0">
                  <a:solidFill>
                    <a:schemeClr val="tx2"/>
                  </a:solidFill>
                  <a:sym typeface="Adagio_Slab-Regular_italic"/>
                </a:rPr>
                <a:t>Złożone zapytania (REC)</a:t>
              </a:r>
            </a:p>
          </p:txBody>
        </p:sp>
        <p:sp>
          <p:nvSpPr>
            <p:cNvPr id="13" name="Shape 81">
              <a:extLst>
                <a:ext uri="{FF2B5EF4-FFF2-40B4-BE49-F238E27FC236}">
                  <a16:creationId xmlns:a16="http://schemas.microsoft.com/office/drawing/2014/main" id="{0D196234-7076-D379-8585-98889299AF30}"/>
                </a:ext>
              </a:extLst>
            </p:cNvPr>
            <p:cNvSpPr txBox="1">
              <a:spLocks/>
            </p:cNvSpPr>
            <p:nvPr/>
          </p:nvSpPr>
          <p:spPr>
            <a:xfrm>
              <a:off x="1520460" y="7514205"/>
              <a:ext cx="6578600" cy="24707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normAutofit/>
            </a:bodyPr>
            <a:lstStyle>
              <a:lvl1pPr marL="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1pPr>
              <a:lvl2pPr marL="681566" marR="0" indent="-338666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2pPr>
              <a:lvl3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3pPr>
              <a:lvl4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4pPr>
              <a:lvl5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5pPr>
              <a:lvl6pPr marL="8001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6pPr>
              <a:lvl7pPr marL="12573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7pPr>
              <a:lvl8pPr marL="17145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8pPr>
              <a:lvl9pPr marL="21717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9pPr>
            </a:lstStyle>
            <a:p>
              <a:pPr hangingPunct="1">
                <a:defRPr sz="3500" i="1">
                  <a:solidFill>
                    <a:srgbClr val="7896CF"/>
                  </a:solidFill>
                  <a:latin typeface="Adagio_Slab-Regular_italic"/>
                  <a:ea typeface="Adagio_Slab-Regular_italic"/>
                  <a:cs typeface="Adagio_Slab-Regular_italic"/>
                  <a:sym typeface="Adagio_Slab-Regular_italic"/>
                </a:defRPr>
              </a:pPr>
              <a:endParaRPr lang="pl-PL" sz="2000" i="1" dirty="0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endParaRPr>
            </a:p>
            <a:p>
              <a:pPr hangingPunct="1">
                <a:defRPr sz="3500" i="1">
                  <a:solidFill>
                    <a:srgbClr val="7896CF"/>
                  </a:solidFill>
                  <a:latin typeface="Adagio_Slab-Regular_italic"/>
                  <a:ea typeface="Adagio_Slab-Regular_italic"/>
                  <a:cs typeface="Adagio_Slab-Regular_italic"/>
                  <a:sym typeface="Adagio_Slab-Regular_italic"/>
                </a:defRPr>
              </a:pPr>
              <a:r>
                <a:rPr lang="pl-PL" sz="2800" i="1" dirty="0">
                  <a:solidFill>
                    <a:schemeClr val="tx2"/>
                  </a:solidFill>
                </a:rPr>
                <a:t>Automatyczne wycinanie obiektów tekstem i generowanie masek dla modeli edycyjnych (np. </a:t>
              </a:r>
              <a:r>
                <a:rPr lang="pl-PL" sz="2800" i="1" dirty="0" err="1">
                  <a:solidFill>
                    <a:schemeClr val="tx2"/>
                  </a:solidFill>
                </a:rPr>
                <a:t>Stable</a:t>
              </a:r>
              <a:r>
                <a:rPr lang="pl-PL" sz="2800" i="1" dirty="0">
                  <a:solidFill>
                    <a:schemeClr val="tx2"/>
                  </a:solidFill>
                </a:rPr>
                <a:t> </a:t>
              </a:r>
              <a:r>
                <a:rPr lang="pl-PL" sz="2800" i="1" dirty="0" err="1">
                  <a:solidFill>
                    <a:schemeClr val="tx2"/>
                  </a:solidFill>
                </a:rPr>
                <a:t>Diffusion</a:t>
              </a:r>
              <a:r>
                <a:rPr lang="pl-PL" sz="2800" i="1" dirty="0">
                  <a:solidFill>
                    <a:schemeClr val="tx2"/>
                  </a:solidFill>
                </a:rPr>
                <a:t>).</a:t>
              </a:r>
              <a:endParaRPr lang="pl-PL" sz="2800" dirty="0">
                <a:solidFill>
                  <a:schemeClr val="tx2"/>
                </a:solidFill>
              </a:endParaRPr>
            </a:p>
            <a:p>
              <a:pPr hangingPunct="1">
                <a:defRPr sz="3500"/>
              </a:pPr>
              <a:endParaRPr lang="pl-PL" sz="2000" dirty="0"/>
            </a:p>
          </p:txBody>
        </p:sp>
        <p:sp>
          <p:nvSpPr>
            <p:cNvPr id="15" name="Shape 81">
              <a:extLst>
                <a:ext uri="{FF2B5EF4-FFF2-40B4-BE49-F238E27FC236}">
                  <a16:creationId xmlns:a16="http://schemas.microsoft.com/office/drawing/2014/main" id="{CB1167C1-042F-7AD1-6DEB-63CF87C26D35}"/>
                </a:ext>
              </a:extLst>
            </p:cNvPr>
            <p:cNvSpPr txBox="1">
              <a:spLocks/>
            </p:cNvSpPr>
            <p:nvPr/>
          </p:nvSpPr>
          <p:spPr>
            <a:xfrm>
              <a:off x="8902698" y="7514205"/>
              <a:ext cx="6578600" cy="24707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normAutofit/>
            </a:bodyPr>
            <a:lstStyle>
              <a:lvl1pPr marL="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1pPr>
              <a:lvl2pPr marL="681566" marR="0" indent="-338666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2pPr>
              <a:lvl3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3pPr>
              <a:lvl4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4pPr>
              <a:lvl5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5pPr>
              <a:lvl6pPr marL="8001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6pPr>
              <a:lvl7pPr marL="12573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7pPr>
              <a:lvl8pPr marL="17145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8pPr>
              <a:lvl9pPr marL="21717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9pPr>
            </a:lstStyle>
            <a:p>
              <a:pPr hangingPunct="1">
                <a:defRPr sz="3500" i="1">
                  <a:solidFill>
                    <a:srgbClr val="7896CF"/>
                  </a:solidFill>
                  <a:latin typeface="Adagio_Slab-Regular_italic"/>
                  <a:ea typeface="Adagio_Slab-Regular_italic"/>
                  <a:cs typeface="Adagio_Slab-Regular_italic"/>
                  <a:sym typeface="Adagio_Slab-Regular_italic"/>
                </a:defRPr>
              </a:pPr>
              <a:endParaRPr lang="pl-PL" sz="2000" i="1" dirty="0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endParaRPr>
            </a:p>
            <a:p>
              <a:pPr hangingPunct="1">
                <a:defRPr sz="3500" i="1">
                  <a:solidFill>
                    <a:srgbClr val="7896CF"/>
                  </a:solidFill>
                  <a:latin typeface="Adagio_Slab-Regular_italic"/>
                  <a:ea typeface="Adagio_Slab-Regular_italic"/>
                  <a:cs typeface="Adagio_Slab-Regular_italic"/>
                  <a:sym typeface="Adagio_Slab-Regular_italic"/>
                </a:defRPr>
              </a:pPr>
              <a:r>
                <a:rPr lang="pl-PL" sz="2800" i="1" dirty="0">
                  <a:solidFill>
                    <a:schemeClr val="tx2"/>
                  </a:solidFill>
                  <a:sym typeface="Adagio_Slab-Regular_italic"/>
                </a:rPr>
                <a:t>Precyzyjne rozmieszczanie nowych obiektów w ściśle wyznaczonych ramkach kadru (współpraca z GLIGEN).</a:t>
              </a:r>
              <a:endParaRPr lang="pl-PL" sz="2800" dirty="0">
                <a:solidFill>
                  <a:schemeClr val="tx2"/>
                </a:solidFill>
              </a:endParaRPr>
            </a:p>
          </p:txBody>
        </p:sp>
        <p:sp>
          <p:nvSpPr>
            <p:cNvPr id="17" name="Shape 81">
              <a:extLst>
                <a:ext uri="{FF2B5EF4-FFF2-40B4-BE49-F238E27FC236}">
                  <a16:creationId xmlns:a16="http://schemas.microsoft.com/office/drawing/2014/main" id="{2271F778-94CE-0181-7870-6E383CC0335F}"/>
                </a:ext>
              </a:extLst>
            </p:cNvPr>
            <p:cNvSpPr txBox="1">
              <a:spLocks/>
            </p:cNvSpPr>
            <p:nvPr/>
          </p:nvSpPr>
          <p:spPr>
            <a:xfrm>
              <a:off x="16284940" y="7514205"/>
              <a:ext cx="6578600" cy="24707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normAutofit/>
            </a:bodyPr>
            <a:lstStyle>
              <a:lvl1pPr marL="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1pPr>
              <a:lvl2pPr marL="681566" marR="0" indent="-338666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2pPr>
              <a:lvl3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3pPr>
              <a:lvl4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4pPr>
              <a:lvl5pPr marL="3429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-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5pPr>
              <a:lvl6pPr marL="8001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6pPr>
              <a:lvl7pPr marL="12573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7pPr>
              <a:lvl8pPr marL="17145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8pPr>
              <a:lvl9pPr marL="2171700" marR="0" indent="0" algn="l" defTabSz="1087437" rtl="0" latinLnBrk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sz="4000" b="0" i="0" u="none" strike="noStrike" cap="none" spc="0" baseline="0">
                  <a:ln>
                    <a:noFill/>
                  </a:ln>
                  <a:solidFill>
                    <a:srgbClr val="3C3C4C"/>
                  </a:solidFill>
                  <a:uFillTx/>
                  <a:latin typeface="Adagio_Slab"/>
                  <a:ea typeface="Adagio_Slab"/>
                  <a:cs typeface="Adagio_Slab"/>
                  <a:sym typeface="Adagio_Slab"/>
                </a:defRPr>
              </a:lvl9pPr>
            </a:lstStyle>
            <a:p>
              <a:pPr hangingPunct="1">
                <a:defRPr sz="3500" i="1">
                  <a:solidFill>
                    <a:srgbClr val="7896CF"/>
                  </a:solidFill>
                  <a:latin typeface="Adagio_Slab-Regular_italic"/>
                  <a:ea typeface="Adagio_Slab-Regular_italic"/>
                  <a:cs typeface="Adagio_Slab-Regular_italic"/>
                  <a:sym typeface="Adagio_Slab-Regular_italic"/>
                </a:defRPr>
              </a:pPr>
              <a:endParaRPr lang="pl-PL" sz="2000" i="1" dirty="0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endParaRPr>
            </a:p>
            <a:p>
              <a:r>
                <a:rPr lang="pl-PL" sz="2800" i="1" dirty="0"/>
                <a:t>Lokalizacja obiektów na podstawie złożonych opisów i relacji przestrzennych (</a:t>
              </a:r>
              <a:r>
                <a:rPr lang="pl-PL" sz="2800" i="1" dirty="0" err="1"/>
                <a:t>Referring</a:t>
              </a:r>
              <a:r>
                <a:rPr lang="pl-PL" sz="2800" i="1" dirty="0"/>
                <a:t> </a:t>
              </a:r>
              <a:r>
                <a:rPr lang="pl-PL" sz="2800" i="1" dirty="0" err="1"/>
                <a:t>Expression</a:t>
              </a:r>
              <a:r>
                <a:rPr lang="pl-PL" sz="2800" i="1" dirty="0"/>
                <a:t> </a:t>
              </a:r>
              <a:r>
                <a:rPr lang="pl-PL" sz="2800" i="1" dirty="0" err="1"/>
                <a:t>Comprehension</a:t>
              </a:r>
              <a:r>
                <a:rPr lang="pl-PL" sz="2800" i="1" dirty="0"/>
                <a:t>).</a:t>
              </a:r>
              <a:endParaRPr lang="pl-PL" sz="2800" dirty="0"/>
            </a:p>
          </p:txBody>
        </p:sp>
        <p:pic>
          <p:nvPicPr>
            <p:cNvPr id="19" name="Obraz 18">
              <a:extLst>
                <a:ext uri="{FF2B5EF4-FFF2-40B4-BE49-F238E27FC236}">
                  <a16:creationId xmlns:a16="http://schemas.microsoft.com/office/drawing/2014/main" id="{87C46BED-21AE-791F-28AA-97507E8D0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0741" y="4034772"/>
              <a:ext cx="6918038" cy="3178463"/>
            </a:xfrm>
            <a:prstGeom prst="rect">
              <a:avLst/>
            </a:prstGeom>
          </p:spPr>
        </p:pic>
        <p:pic>
          <p:nvPicPr>
            <p:cNvPr id="20" name="Obraz 19">
              <a:extLst>
                <a:ext uri="{FF2B5EF4-FFF2-40B4-BE49-F238E27FC236}">
                  <a16:creationId xmlns:a16="http://schemas.microsoft.com/office/drawing/2014/main" id="{A0135331-B5C5-01EE-E24E-B76C8BE93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02698" y="4256812"/>
              <a:ext cx="6578600" cy="2734381"/>
            </a:xfrm>
            <a:prstGeom prst="rect">
              <a:avLst/>
            </a:prstGeom>
          </p:spPr>
        </p:pic>
      </p:grpSp>
      <p:pic>
        <p:nvPicPr>
          <p:cNvPr id="22" name="Obraz 21">
            <a:extLst>
              <a:ext uri="{FF2B5EF4-FFF2-40B4-BE49-F238E27FC236}">
                <a16:creationId xmlns:a16="http://schemas.microsoft.com/office/drawing/2014/main" id="{D320ABDA-2AF9-25AA-2796-47CEBEE8A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5012" y="4352425"/>
            <a:ext cx="5130798" cy="397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6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4294967295"/>
          </p:nvPr>
        </p:nvSpPr>
        <p:spPr>
          <a:xfrm>
            <a:off x="23863300" y="906463"/>
            <a:ext cx="520700" cy="10541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1087437" rtl="0" eaLnBrk="1" fontAlgn="auto" latinLnBrk="0" hangingPunct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6900" b="0" i="0" u="none" strike="noStrike" kern="0" cap="none" spc="0" normalizeH="0" baseline="0" noProof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Radikal WUT"/>
                <a:sym typeface="Radikal WUT"/>
              </a:rPr>
              <a:pPr marL="0" marR="0" lvl="0" indent="0" algn="r" defTabSz="1087437" rtl="0" eaLnBrk="1" fontAlgn="auto" latinLnBrk="0" hangingPunct="0">
                <a:lnSpc>
                  <a:spcPct val="93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6900" b="0" i="0" u="none" strike="noStrike" kern="0" cap="none" spc="0" normalizeH="0" baseline="0" noProof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Radikal WUT"/>
              <a:sym typeface="Radikal WUT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1266824" y="898525"/>
            <a:ext cx="17348202" cy="1030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lvl="0">
              <a:defRPr sz="3500"/>
            </a:pPr>
            <a:r>
              <a:rPr lang="pl-PL" sz="7200" dirty="0"/>
              <a:t>Planowany kierunek projektu</a:t>
            </a:r>
            <a:endParaRPr kumimoji="0" lang="pl-PL" sz="7200" b="0" i="0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  <p:sp>
        <p:nvSpPr>
          <p:cNvPr id="2" name="Prostokąt zaokrąglony 1">
            <a:extLst>
              <a:ext uri="{FF2B5EF4-FFF2-40B4-BE49-F238E27FC236}">
                <a16:creationId xmlns:a16="http://schemas.microsoft.com/office/drawing/2014/main" id="{C37225EB-8457-CFA8-BC0F-343895BC1524}"/>
              </a:ext>
            </a:extLst>
          </p:cNvPr>
          <p:cNvSpPr/>
          <p:nvPr/>
        </p:nvSpPr>
        <p:spPr>
          <a:xfrm>
            <a:off x="9755781" y="4053125"/>
            <a:ext cx="3600000" cy="1107175"/>
          </a:xfrm>
          <a:prstGeom prst="roundRect">
            <a:avLst/>
          </a:prstGeom>
          <a:solidFill>
            <a:srgbClr val="96BCFF">
              <a:alpha val="54902"/>
            </a:srgbClr>
          </a:solidFill>
          <a:ln w="25400" cap="flat">
            <a:solidFill>
              <a:srgbClr val="96BC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marL="0" marR="0" indent="0" algn="ctr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l-PL" sz="4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Times New Roman"/>
              </a:rPr>
              <a:t>dog.</a:t>
            </a:r>
          </a:p>
        </p:txBody>
      </p:sp>
      <p:sp>
        <p:nvSpPr>
          <p:cNvPr id="10" name="Prostokąt zaokrąglony 9">
            <a:extLst>
              <a:ext uri="{FF2B5EF4-FFF2-40B4-BE49-F238E27FC236}">
                <a16:creationId xmlns:a16="http://schemas.microsoft.com/office/drawing/2014/main" id="{67417B92-3D09-3266-AC65-CFB657325894}"/>
              </a:ext>
            </a:extLst>
          </p:cNvPr>
          <p:cNvSpPr/>
          <p:nvPr/>
        </p:nvSpPr>
        <p:spPr>
          <a:xfrm>
            <a:off x="9755781" y="6304410"/>
            <a:ext cx="3600000" cy="1107175"/>
          </a:xfrm>
          <a:prstGeom prst="roundRect">
            <a:avLst/>
          </a:prstGeom>
          <a:solidFill>
            <a:srgbClr val="96BCFF">
              <a:alpha val="54902"/>
            </a:srgbClr>
          </a:solidFill>
          <a:ln w="25400" cap="flat">
            <a:solidFill>
              <a:srgbClr val="96BC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marL="0" marR="0" indent="0" algn="ctr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l-PL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0" lang="pl-PL" sz="4000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Times New Roman"/>
              </a:rPr>
              <a:t>uppy</a:t>
            </a:r>
            <a:r>
              <a:rPr kumimoji="0" lang="pl-PL" sz="4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Times New Roman"/>
              </a:rPr>
              <a:t>.</a:t>
            </a:r>
          </a:p>
        </p:txBody>
      </p:sp>
      <p:sp>
        <p:nvSpPr>
          <p:cNvPr id="11" name="Prostokąt zaokrąglony 10">
            <a:extLst>
              <a:ext uri="{FF2B5EF4-FFF2-40B4-BE49-F238E27FC236}">
                <a16:creationId xmlns:a16="http://schemas.microsoft.com/office/drawing/2014/main" id="{0E7023F7-BF17-BCDF-83B3-002B2A87B0C4}"/>
              </a:ext>
            </a:extLst>
          </p:cNvPr>
          <p:cNvSpPr/>
          <p:nvPr/>
        </p:nvSpPr>
        <p:spPr>
          <a:xfrm>
            <a:off x="9755781" y="8555695"/>
            <a:ext cx="3600000" cy="1148038"/>
          </a:xfrm>
          <a:prstGeom prst="roundRect">
            <a:avLst/>
          </a:prstGeom>
          <a:solidFill>
            <a:srgbClr val="96BCFF">
              <a:alpha val="54902"/>
            </a:srgbClr>
          </a:solidFill>
          <a:ln w="25400" cap="flat">
            <a:solidFill>
              <a:srgbClr val="96BC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r>
              <a:rPr lang="pl-PL" sz="2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small </a:t>
            </a:r>
            <a:r>
              <a:rPr lang="pl-PL" sz="21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white</a:t>
            </a:r>
            <a:r>
              <a:rPr lang="pl-PL" sz="2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1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  <a:r>
              <a:rPr lang="pl-PL" sz="2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1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running</a:t>
            </a:r>
            <a:r>
              <a:rPr lang="pl-PL" sz="2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pl-PL" sz="21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grass</a:t>
            </a:r>
            <a:r>
              <a:rPr lang="pl-PL" sz="2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kumimoji="0" lang="pl-PL" sz="2100" b="1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Times New Roman"/>
            </a:endParaRP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2EACCD0B-9D3C-B69C-424C-1B6F6ACB9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74" y="5029198"/>
            <a:ext cx="6502400" cy="3657600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363D9A43-DEB5-9F37-0FEB-3316A9412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4589" y="4973780"/>
            <a:ext cx="6502400" cy="3657600"/>
          </a:xfrm>
          <a:prstGeom prst="rect">
            <a:avLst/>
          </a:prstGeom>
        </p:spPr>
      </p:pic>
      <p:cxnSp>
        <p:nvCxnSpPr>
          <p:cNvPr id="18" name="Łącznik łamany 17">
            <a:extLst>
              <a:ext uri="{FF2B5EF4-FFF2-40B4-BE49-F238E27FC236}">
                <a16:creationId xmlns:a16="http://schemas.microsoft.com/office/drawing/2014/main" id="{ED56E480-A16C-B8CB-C947-8B0EA34E73AD}"/>
              </a:ext>
            </a:extLst>
          </p:cNvPr>
          <p:cNvCxnSpPr>
            <a:cxnSpLocks/>
          </p:cNvCxnSpPr>
          <p:nvPr/>
        </p:nvCxnSpPr>
        <p:spPr>
          <a:xfrm>
            <a:off x="7196974" y="7706845"/>
            <a:ext cx="2558807" cy="1402437"/>
          </a:xfrm>
          <a:prstGeom prst="bentConnector3">
            <a:avLst>
              <a:gd name="adj1" fmla="val 50000"/>
            </a:avLst>
          </a:prstGeom>
          <a:ln w="38100" cap="flat" cmpd="sng" algn="ctr">
            <a:solidFill>
              <a:srgbClr val="7896C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Łącznik łamany 20">
            <a:extLst>
              <a:ext uri="{FF2B5EF4-FFF2-40B4-BE49-F238E27FC236}">
                <a16:creationId xmlns:a16="http://schemas.microsoft.com/office/drawing/2014/main" id="{575FB2E1-7ACE-B2CF-7F7D-4AE44F2D0047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7196974" y="4606713"/>
            <a:ext cx="2558807" cy="1402437"/>
          </a:xfrm>
          <a:prstGeom prst="bentConnector3">
            <a:avLst>
              <a:gd name="adj1" fmla="val 50000"/>
            </a:avLst>
          </a:prstGeom>
          <a:ln w="38100" cap="flat" cmpd="sng" algn="ctr">
            <a:solidFill>
              <a:srgbClr val="7896C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36044BCE-0449-8786-3F6E-367D8BC52D52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7196974" y="6857998"/>
            <a:ext cx="2558807" cy="0"/>
          </a:xfrm>
          <a:prstGeom prst="straightConnector1">
            <a:avLst/>
          </a:prstGeom>
          <a:ln w="38100" cap="flat" cmpd="sng" algn="ctr">
            <a:solidFill>
              <a:srgbClr val="7896C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Łącznik łamany 35">
            <a:extLst>
              <a:ext uri="{FF2B5EF4-FFF2-40B4-BE49-F238E27FC236}">
                <a16:creationId xmlns:a16="http://schemas.microsoft.com/office/drawing/2014/main" id="{E0822010-43FB-0F1B-E53F-6D4322B49F61}"/>
              </a:ext>
            </a:extLst>
          </p:cNvPr>
          <p:cNvCxnSpPr>
            <a:stCxn id="2" idx="3"/>
          </p:cNvCxnSpPr>
          <p:nvPr/>
        </p:nvCxnSpPr>
        <p:spPr>
          <a:xfrm>
            <a:off x="13355781" y="4606713"/>
            <a:ext cx="2558808" cy="1404000"/>
          </a:xfrm>
          <a:prstGeom prst="bentConnector3">
            <a:avLst/>
          </a:prstGeom>
          <a:ln w="38100" cap="flat" cmpd="sng" algn="ctr">
            <a:solidFill>
              <a:srgbClr val="7896C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DCC7DC22-CBE5-1036-6D29-07F1FB9EE115}"/>
              </a:ext>
            </a:extLst>
          </p:cNvPr>
          <p:cNvCxnSpPr>
            <a:stCxn id="10" idx="3"/>
          </p:cNvCxnSpPr>
          <p:nvPr/>
        </p:nvCxnSpPr>
        <p:spPr>
          <a:xfrm>
            <a:off x="13355781" y="6857998"/>
            <a:ext cx="2558808" cy="2"/>
          </a:xfrm>
          <a:prstGeom prst="straightConnector1">
            <a:avLst/>
          </a:prstGeom>
          <a:ln w="38100" cap="flat" cmpd="sng" algn="ctr">
            <a:solidFill>
              <a:srgbClr val="7896C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Łącznik łamany 40">
            <a:extLst>
              <a:ext uri="{FF2B5EF4-FFF2-40B4-BE49-F238E27FC236}">
                <a16:creationId xmlns:a16="http://schemas.microsoft.com/office/drawing/2014/main" id="{87B186DD-8701-86A4-270B-702B26C5FA7B}"/>
              </a:ext>
            </a:extLst>
          </p:cNvPr>
          <p:cNvCxnSpPr>
            <a:stCxn id="11" idx="3"/>
          </p:cNvCxnSpPr>
          <p:nvPr/>
        </p:nvCxnSpPr>
        <p:spPr>
          <a:xfrm flipV="1">
            <a:off x="13355781" y="7705288"/>
            <a:ext cx="2558808" cy="1424426"/>
          </a:xfrm>
          <a:prstGeom prst="bentConnector3">
            <a:avLst/>
          </a:prstGeom>
          <a:ln w="38100" cap="flat" cmpd="sng" algn="ctr">
            <a:solidFill>
              <a:srgbClr val="7896C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9D28459D-5968-DA76-DD55-7639A9A09866}"/>
              </a:ext>
            </a:extLst>
          </p:cNvPr>
          <p:cNvSpPr txBox="1"/>
          <p:nvPr/>
        </p:nvSpPr>
        <p:spPr>
          <a:xfrm>
            <a:off x="13177021" y="3839050"/>
            <a:ext cx="2902400" cy="66145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0709" tIns="110709" rIns="110709" bIns="110709" numCol="1" spcCol="38100" rtlCol="0" anchor="t">
            <a:spAutoFit/>
          </a:bodyPr>
          <a:lstStyle/>
          <a:p>
            <a:pPr marL="0" marR="0" indent="0" algn="l" defTabSz="1087437" rtl="0" fontAlgn="auto" latinLnBrk="0" hangingPunct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l-PL" sz="34400" b="1" dirty="0">
                <a:solidFill>
                  <a:schemeClr val="tx2"/>
                </a:solidFill>
                <a:latin typeface="+mj-lt"/>
                <a:cs typeface="+mj-cs"/>
              </a:rPr>
              <a:t>?</a:t>
            </a:r>
            <a:endParaRPr kumimoji="0" lang="pl-PL" sz="11500" b="1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n-ea"/>
              <a:cs typeface="+mj-cs"/>
              <a:sym typeface="Times New Roman"/>
            </a:endParaRPr>
          </a:p>
        </p:txBody>
      </p:sp>
      <p:sp>
        <p:nvSpPr>
          <p:cNvPr id="44" name="Shape 81">
            <a:extLst>
              <a:ext uri="{FF2B5EF4-FFF2-40B4-BE49-F238E27FC236}">
                <a16:creationId xmlns:a16="http://schemas.microsoft.com/office/drawing/2014/main" id="{249D4157-2605-6DD8-3444-42DED84C2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6824" y="10592232"/>
            <a:ext cx="15875000" cy="1005489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3500" i="1">
                <a:solidFill>
                  <a:srgbClr val="7896CF"/>
                </a:solidFill>
                <a:latin typeface="Adagio_Slab-Regular_italic"/>
                <a:ea typeface="Adagio_Slab-Regular_italic"/>
                <a:cs typeface="Adagio_Slab-Regular_italic"/>
                <a:sym typeface="Adagio_Slab-Regular_italic"/>
              </a:defRPr>
            </a:pPr>
            <a:r>
              <a:rPr lang="pl-PL" sz="4400" b="1" dirty="0">
                <a:solidFill>
                  <a:schemeClr val="tx2"/>
                </a:solidFill>
              </a:rPr>
              <a:t>Dodatkowo</a:t>
            </a:r>
            <a:r>
              <a:rPr lang="pl-PL" sz="4400" dirty="0">
                <a:solidFill>
                  <a:schemeClr val="tx2"/>
                </a:solidFill>
              </a:rPr>
              <a:t>: próba fine-</a:t>
            </a:r>
            <a:r>
              <a:rPr lang="pl-PL" sz="4400" dirty="0" err="1">
                <a:solidFill>
                  <a:schemeClr val="tx2"/>
                </a:solidFill>
              </a:rPr>
              <a:t>tuningu</a:t>
            </a:r>
            <a:r>
              <a:rPr lang="pl-PL" sz="4400" dirty="0">
                <a:solidFill>
                  <a:schemeClr val="tx2"/>
                </a:solidFill>
              </a:rPr>
              <a:t> modelu na małym zbiorze danych</a:t>
            </a:r>
          </a:p>
        </p:txBody>
      </p:sp>
    </p:spTree>
    <p:extLst>
      <p:ext uri="{BB962C8B-B14F-4D97-AF65-F5344CB8AC3E}">
        <p14:creationId xmlns:p14="http://schemas.microsoft.com/office/powerpoint/2010/main" val="35047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dissolv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6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0" y="1157814"/>
            <a:ext cx="5080000" cy="11107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059872"/>
            <a:ext cx="3429000" cy="1154756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hape 71"/>
          <p:cNvSpPr/>
          <p:nvPr/>
        </p:nvSpPr>
        <p:spPr>
          <a:xfrm>
            <a:off x="3018278" y="6078640"/>
            <a:ext cx="15459554" cy="1001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7000">
                <a:solidFill>
                  <a:srgbClr val="3C3C4C"/>
                </a:solidFill>
                <a:latin typeface="Adagio_Slab"/>
                <a:ea typeface="Adagio_Slab"/>
                <a:cs typeface="Adagio_Slab"/>
                <a:sym typeface="Adagio_Slab"/>
              </a:defRPr>
            </a:lvl1pPr>
          </a:lstStyle>
          <a:p>
            <a:pPr marL="0" marR="0" lvl="0" indent="0" algn="ctr" defTabSz="1087437" rtl="0" eaLnBrk="1" fontAlgn="auto" latinLnBrk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7000" b="0" i="1" u="none" strike="noStrike" kern="0" cap="none" spc="0" normalizeH="0" baseline="0" noProof="0" dirty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Adagio_Slab"/>
                <a:sym typeface="Adagio_Slab"/>
              </a:rPr>
              <a:t>Dziękujemy za </a:t>
            </a:r>
            <a:r>
              <a:rPr kumimoji="0" lang="pl-PL" sz="70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dagio_Slab"/>
                <a:sym typeface="Adagio_Slab"/>
              </a:rPr>
              <a:t>uwagę</a:t>
            </a:r>
            <a:r>
              <a:rPr kumimoji="0" lang="pl-PL" sz="7000" b="0" i="1" u="none" strike="noStrike" kern="0" cap="none" spc="0" normalizeH="0" baseline="0" noProof="0" dirty="0">
                <a:ln>
                  <a:noFill/>
                </a:ln>
                <a:solidFill>
                  <a:srgbClr val="3C3C4C"/>
                </a:solidFill>
                <a:effectLst/>
                <a:uLnTx/>
                <a:uFillTx/>
                <a:latin typeface="Adagio_Slab"/>
                <a:sym typeface="Adagio_Slab"/>
              </a:rPr>
              <a:t> !!!</a:t>
            </a:r>
            <a:endParaRPr kumimoji="0" sz="7000" b="0" i="1" u="none" strike="noStrike" kern="0" cap="none" spc="0" normalizeH="0" baseline="0" noProof="0" dirty="0">
              <a:ln>
                <a:noFill/>
              </a:ln>
              <a:solidFill>
                <a:srgbClr val="3C3C4C"/>
              </a:solidFill>
              <a:effectLst/>
              <a:uLnTx/>
              <a:uFillTx/>
              <a:latin typeface="Adagio_Slab"/>
              <a:sym typeface="Adagio_Slab"/>
            </a:endParaRPr>
          </a:p>
        </p:txBody>
      </p:sp>
      <p:pic>
        <p:nvPicPr>
          <p:cNvPr id="72" name="pasted-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304" y="1157336"/>
            <a:ext cx="4628477" cy="156737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6481895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">
  <a:themeElements>
    <a:clrScheme name="Office">
      <a:dk1>
        <a:srgbClr val="6ABA9C"/>
      </a:dk1>
      <a:lt1>
        <a:srgbClr val="6ABA9C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ABA9C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ABA9C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110709" tIns="110709" rIns="110709" bIns="110709" numCol="1" spcCol="38100" rtlCol="0" anchor="t">
        <a:spAutoFit/>
      </a:bodyPr>
      <a:lstStyle>
        <a:defPPr marL="0" marR="0" indent="0" algn="l" defTabSz="1087437" rtl="0" fontAlgn="auto" latinLnBrk="0" hangingPunct="0">
          <a:lnSpc>
            <a:spcPct val="120000"/>
          </a:lnSpc>
          <a:spcBef>
            <a:spcPts val="3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6ABA9C"/>
            </a:solidFill>
            <a:effectLst/>
            <a:uFillTx/>
            <a:latin typeface="+mn-lt"/>
            <a:ea typeface="+mn-ea"/>
            <a:cs typeface="+mn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</TotalTime>
  <Words>871</Words>
  <Application>Microsoft Office PowerPoint</Application>
  <PresentationFormat>Niestandardowy</PresentationFormat>
  <Paragraphs>86</Paragraphs>
  <Slides>9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7" baseType="lpstr">
      <vt:lpstr>Adagio_Slab</vt:lpstr>
      <vt:lpstr>Adagio_Slab-Regular_italic</vt:lpstr>
      <vt:lpstr>Arial</vt:lpstr>
      <vt:lpstr>Courier New</vt:lpstr>
      <vt:lpstr>Helvetica</vt:lpstr>
      <vt:lpstr>Radikal WUT</vt:lpstr>
      <vt:lpstr>Times New Roman</vt:lpstr>
      <vt:lpstr>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>Wydział Elektryczny, Politechnika Warszawska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na obronę pracy dyolomowej</dc:title>
  <dc:subject/>
  <dc:creator>Grzegorz Sarwas, Włodzimierz Dąbrowski</dc:creator>
  <cp:keywords>Prace dyplomowe</cp:keywords>
  <dc:description>Przykładowy szablon prezentacji na obronę pracy dyplomowej z uwzględnieniem obowiązującej identyfikacji wizualnej PW.
Wersja 1.0</dc:description>
  <cp:lastModifiedBy>Pyłko Rafał (STUD)</cp:lastModifiedBy>
  <cp:revision>21</cp:revision>
  <dcterms:modified xsi:type="dcterms:W3CDTF">2026-10-29T20:55:30Z</dcterms:modified>
  <cp:category>Dyplom</cp:category>
</cp:coreProperties>
</file>